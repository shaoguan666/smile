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0972800" cy="59896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4" d="100"/>
          <a:sy n="114" d="100"/>
        </p:scale>
        <p:origin x="324" y="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01168" y="4206240"/>
            <a:ext cx="10570464" cy="159105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10896" y="301751"/>
            <a:ext cx="1627632" cy="2194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1430">
            <a:solidFill>
              <a:srgbClr val="E88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10896" y="301751"/>
            <a:ext cx="1627632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850" b="1" i="0">
                <a:solidFill>
                  <a:srgbClr val="E8833A"/>
                </a:solidFill>
                <a:latin typeface="Arial"/>
              </a:rPr>
              <a:t>(a) Physical-Time Track</a:t>
            </a:r>
          </a:p>
        </p:txBody>
      </p:sp>
      <p:sp>
        <p:nvSpPr>
          <p:cNvPr id="9" name="Freeform 8"/>
          <p:cNvSpPr/>
          <p:nvPr/>
        </p:nvSpPr>
        <p:spPr>
          <a:xfrm>
            <a:off x="566928" y="950976"/>
            <a:ext cx="2788920" cy="301752"/>
          </a:xfrm>
          <a:custGeom>
            <a:avLst/>
            <a:gdLst/>
            <a:ahLst/>
            <a:cxnLst/>
            <a:rect l="l" t="t" r="r" b="b"/>
            <a:pathLst>
              <a:path w="2788920" h="301752">
                <a:moveTo>
                  <a:pt x="0" y="137160"/>
                </a:moveTo>
                <a:lnTo>
                  <a:pt x="232410" y="0"/>
                </a:lnTo>
                <a:lnTo>
                  <a:pt x="813435" y="237743"/>
                </a:lnTo>
                <a:lnTo>
                  <a:pt x="929640" y="64007"/>
                </a:lnTo>
                <a:lnTo>
                  <a:pt x="2788920" y="301752"/>
                </a:lnTo>
              </a:path>
            </a:pathLst>
          </a:custGeom>
          <a:noFill/>
          <a:ln w="11430">
            <a:solidFill>
              <a:srgbClr val="B4B4B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" name="Connector 9"/>
          <p:cNvCxnSpPr/>
          <p:nvPr/>
        </p:nvCxnSpPr>
        <p:spPr>
          <a:xfrm flipV="1">
            <a:off x="566928" y="1088136"/>
            <a:ext cx="0" cy="429768"/>
          </a:xfrm>
          <a:prstGeom prst="line">
            <a:avLst/>
          </a:prstGeom>
          <a:ln w="12700">
            <a:solidFill>
              <a:srgbClr val="E883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532180" y="1053388"/>
            <a:ext cx="69494" cy="69494"/>
          </a:xfrm>
          <a:prstGeom prst="ellipse">
            <a:avLst/>
          </a:prstGeom>
          <a:solidFill>
            <a:srgbClr val="E8833A"/>
          </a:solidFill>
          <a:ln w="5080">
            <a:solidFill>
              <a:srgbClr val="E88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12" name="Connector 11"/>
          <p:cNvCxnSpPr/>
          <p:nvPr/>
        </p:nvCxnSpPr>
        <p:spPr>
          <a:xfrm flipV="1">
            <a:off x="799338" y="950976"/>
            <a:ext cx="0" cy="566928"/>
          </a:xfrm>
          <a:prstGeom prst="line">
            <a:avLst/>
          </a:prstGeom>
          <a:ln w="12700">
            <a:solidFill>
              <a:srgbClr val="E883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764590" y="916228"/>
            <a:ext cx="69494" cy="69494"/>
          </a:xfrm>
          <a:prstGeom prst="ellipse">
            <a:avLst/>
          </a:prstGeom>
          <a:solidFill>
            <a:srgbClr val="E8833A"/>
          </a:solidFill>
          <a:ln w="5080">
            <a:solidFill>
              <a:srgbClr val="E88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14" name="Connector 13"/>
          <p:cNvCxnSpPr/>
          <p:nvPr/>
        </p:nvCxnSpPr>
        <p:spPr>
          <a:xfrm flipV="1">
            <a:off x="1380363" y="1188719"/>
            <a:ext cx="0" cy="329185"/>
          </a:xfrm>
          <a:prstGeom prst="line">
            <a:avLst/>
          </a:prstGeom>
          <a:ln w="12700">
            <a:solidFill>
              <a:srgbClr val="E883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345615" y="1153972"/>
            <a:ext cx="69494" cy="69494"/>
          </a:xfrm>
          <a:prstGeom prst="ellipse">
            <a:avLst/>
          </a:prstGeom>
          <a:solidFill>
            <a:srgbClr val="E8833A"/>
          </a:solidFill>
          <a:ln w="5080">
            <a:solidFill>
              <a:srgbClr val="E88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16" name="Connector 15"/>
          <p:cNvCxnSpPr/>
          <p:nvPr/>
        </p:nvCxnSpPr>
        <p:spPr>
          <a:xfrm flipV="1">
            <a:off x="1496568" y="1014983"/>
            <a:ext cx="0" cy="502921"/>
          </a:xfrm>
          <a:prstGeom prst="line">
            <a:avLst/>
          </a:prstGeom>
          <a:ln w="12700">
            <a:solidFill>
              <a:srgbClr val="E883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1461820" y="980236"/>
            <a:ext cx="69494" cy="69494"/>
          </a:xfrm>
          <a:prstGeom prst="ellipse">
            <a:avLst/>
          </a:prstGeom>
          <a:solidFill>
            <a:srgbClr val="E8833A"/>
          </a:solidFill>
          <a:ln w="5080">
            <a:solidFill>
              <a:srgbClr val="E88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18" name="Connector 17"/>
          <p:cNvCxnSpPr/>
          <p:nvPr/>
        </p:nvCxnSpPr>
        <p:spPr>
          <a:xfrm flipV="1">
            <a:off x="3355848" y="1252728"/>
            <a:ext cx="0" cy="265176"/>
          </a:xfrm>
          <a:prstGeom prst="line">
            <a:avLst/>
          </a:prstGeom>
          <a:ln w="12700">
            <a:solidFill>
              <a:srgbClr val="E883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3321100" y="1217980"/>
            <a:ext cx="69494" cy="69494"/>
          </a:xfrm>
          <a:prstGeom prst="ellipse">
            <a:avLst/>
          </a:prstGeom>
          <a:solidFill>
            <a:srgbClr val="E8833A"/>
          </a:solidFill>
          <a:ln w="5080">
            <a:solidFill>
              <a:srgbClr val="E88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20" name="Connector 19"/>
          <p:cNvCxnSpPr/>
          <p:nvPr/>
        </p:nvCxnSpPr>
        <p:spPr>
          <a:xfrm>
            <a:off x="512064" y="1517904"/>
            <a:ext cx="3118104" cy="0"/>
          </a:xfrm>
          <a:prstGeom prst="line">
            <a:avLst/>
          </a:prstGeom>
          <a:ln w="7620">
            <a:solidFill>
              <a:srgbClr val="1A1A1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66928" y="1517904"/>
            <a:ext cx="0" cy="45720"/>
          </a:xfrm>
          <a:prstGeom prst="line">
            <a:avLst/>
          </a:prstGeom>
          <a:ln w="7620">
            <a:solidFill>
              <a:srgbClr val="1A1A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20623" y="1572768"/>
            <a:ext cx="292608" cy="1097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620" b="0" i="0">
                <a:solidFill>
                  <a:srgbClr val="1A1A1A"/>
                </a:solidFill>
                <a:latin typeface="Arial"/>
              </a:rPr>
              <a:t>0h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99338" y="1517904"/>
            <a:ext cx="0" cy="45720"/>
          </a:xfrm>
          <a:prstGeom prst="line">
            <a:avLst/>
          </a:prstGeom>
          <a:ln w="7620">
            <a:solidFill>
              <a:srgbClr val="1A1A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53034" y="1572768"/>
            <a:ext cx="292608" cy="1097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620" b="0" i="0">
                <a:solidFill>
                  <a:srgbClr val="1A1A1A"/>
                </a:solidFill>
                <a:latin typeface="Arial"/>
              </a:rPr>
              <a:t>2h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380363" y="1517904"/>
            <a:ext cx="0" cy="45720"/>
          </a:xfrm>
          <a:prstGeom prst="line">
            <a:avLst/>
          </a:prstGeom>
          <a:ln w="7620">
            <a:solidFill>
              <a:srgbClr val="1A1A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234059" y="1572768"/>
            <a:ext cx="292608" cy="1097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620" b="0" i="0">
                <a:solidFill>
                  <a:srgbClr val="1A1A1A"/>
                </a:solidFill>
                <a:latin typeface="Arial"/>
              </a:rPr>
              <a:t>7h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496568" y="1517904"/>
            <a:ext cx="0" cy="45720"/>
          </a:xfrm>
          <a:prstGeom prst="line">
            <a:avLst/>
          </a:prstGeom>
          <a:ln w="7620">
            <a:solidFill>
              <a:srgbClr val="1A1A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350264" y="1572768"/>
            <a:ext cx="292608" cy="1097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620" b="0" i="0">
                <a:solidFill>
                  <a:srgbClr val="1A1A1A"/>
                </a:solidFill>
                <a:latin typeface="Arial"/>
              </a:rPr>
              <a:t>8h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355848" y="1517904"/>
            <a:ext cx="0" cy="45720"/>
          </a:xfrm>
          <a:prstGeom prst="line">
            <a:avLst/>
          </a:prstGeom>
          <a:ln w="7620">
            <a:solidFill>
              <a:srgbClr val="1A1A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3209544" y="1572768"/>
            <a:ext cx="292608" cy="1097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620" b="0" i="0">
                <a:solidFill>
                  <a:srgbClr val="1A1A1A"/>
                </a:solidFill>
                <a:latin typeface="Arial"/>
              </a:rPr>
              <a:t>24h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66744" y="1453895"/>
            <a:ext cx="274320" cy="1280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750" b="0" i="1">
                <a:solidFill>
                  <a:srgbClr val="1A1A1A"/>
                </a:solidFill>
                <a:latin typeface="Arial"/>
              </a:rPr>
              <a:t>τ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496568" y="1792224"/>
            <a:ext cx="1859280" cy="0"/>
          </a:xfrm>
          <a:prstGeom prst="line">
            <a:avLst/>
          </a:prstGeom>
          <a:ln w="8890">
            <a:solidFill>
              <a:srgbClr val="E883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496568" y="1746504"/>
            <a:ext cx="0" cy="91439"/>
          </a:xfrm>
          <a:prstGeom prst="line">
            <a:avLst/>
          </a:prstGeom>
          <a:ln w="8890">
            <a:solidFill>
              <a:srgbClr val="E883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355848" y="1746504"/>
            <a:ext cx="0" cy="91439"/>
          </a:xfrm>
          <a:prstGeom prst="line">
            <a:avLst/>
          </a:prstGeom>
          <a:ln w="8890">
            <a:solidFill>
              <a:srgbClr val="E883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496568" y="1847088"/>
            <a:ext cx="1859280" cy="1188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620" b="1" i="0">
                <a:solidFill>
                  <a:srgbClr val="E8833A"/>
                </a:solidFill>
                <a:latin typeface="Arial"/>
              </a:rPr>
              <a:t>Δt = 16 h</a:t>
            </a:r>
            <a:r>
              <a:rPr sz="620" b="0" i="0">
                <a:solidFill>
                  <a:srgbClr val="666666"/>
                </a:solidFill>
                <a:latin typeface="Arial"/>
              </a:rPr>
              <a:t>  — nobody ordered a test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639312" y="1197864"/>
            <a:ext cx="438912" cy="0"/>
          </a:xfrm>
          <a:prstGeom prst="line">
            <a:avLst/>
          </a:prstGeom>
          <a:ln w="12700">
            <a:solidFill>
              <a:srgbClr val="1A1A1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4133087" y="475488"/>
            <a:ext cx="2487168" cy="1444752"/>
          </a:xfrm>
          <a:prstGeom prst="rect">
            <a:avLst/>
          </a:prstGeom>
          <a:solidFill>
            <a:srgbClr val="FCE8D8"/>
          </a:solidFill>
          <a:ln w="12700">
            <a:solidFill>
              <a:srgbClr val="E8833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224527" y="548640"/>
            <a:ext cx="1700784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850" b="1" i="0">
                <a:solidFill>
                  <a:srgbClr val="1A1A1A"/>
                </a:solidFill>
                <a:latin typeface="Arial"/>
              </a:rPr>
              <a:t>Learnable Time Encoding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80176" y="553212"/>
            <a:ext cx="548640" cy="137160"/>
          </a:xfrm>
          <a:prstGeom prst="roundRect">
            <a:avLst>
              <a:gd name="adj" fmla="val 40000"/>
            </a:avLst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980176" y="553212"/>
            <a:ext cx="548640" cy="1371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540" b="1" i="0">
                <a:solidFill>
                  <a:srgbClr val="FFFFFF"/>
                </a:solidFill>
                <a:latin typeface="Arial"/>
              </a:rPr>
              <a:t>learnable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87951" y="749808"/>
            <a:ext cx="2377440" cy="1371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660" b="0" i="1">
                <a:solidFill>
                  <a:srgbClr val="1A1A1A"/>
                </a:solidFill>
                <a:latin typeface="Arial"/>
              </a:rPr>
              <a:t>φ</a:t>
            </a:r>
            <a:r>
              <a:rPr sz="660" b="0" i="0">
                <a:solidFill>
                  <a:srgbClr val="1A1A1A"/>
                </a:solidFill>
                <a:latin typeface="Arial"/>
              </a:rPr>
              <a:t>(</a:t>
            </a:r>
            <a:r>
              <a:rPr sz="660" b="0" i="1">
                <a:solidFill>
                  <a:srgbClr val="1A1A1A"/>
                </a:solidFill>
                <a:latin typeface="Arial"/>
              </a:rPr>
              <a:t>τ</a:t>
            </a:r>
            <a:r>
              <a:rPr sz="660" b="0" i="0">
                <a:solidFill>
                  <a:srgbClr val="1A1A1A"/>
                </a:solidFill>
                <a:latin typeface="Arial"/>
              </a:rPr>
              <a:t>) = [sin(</a:t>
            </a:r>
            <a:r>
              <a:rPr sz="660" b="0" i="1">
                <a:solidFill>
                  <a:srgbClr val="1A1A1A"/>
                </a:solidFill>
                <a:latin typeface="Arial"/>
              </a:rPr>
              <a:t>ω</a:t>
            </a:r>
            <a:r>
              <a:rPr sz="660" b="0" i="0">
                <a:solidFill>
                  <a:srgbClr val="1A1A1A"/>
                </a:solidFill>
                <a:latin typeface="Arial"/>
              </a:rPr>
              <a:t>₁</a:t>
            </a:r>
            <a:r>
              <a:rPr sz="660" b="0" i="1">
                <a:solidFill>
                  <a:srgbClr val="1A1A1A"/>
                </a:solidFill>
                <a:latin typeface="Arial"/>
              </a:rPr>
              <a:t>τ</a:t>
            </a:r>
            <a:r>
              <a:rPr sz="660" b="0" i="0">
                <a:solidFill>
                  <a:srgbClr val="1A1A1A"/>
                </a:solidFill>
                <a:latin typeface="Arial"/>
              </a:rPr>
              <a:t>), cos(</a:t>
            </a:r>
            <a:r>
              <a:rPr sz="660" b="0" i="1">
                <a:solidFill>
                  <a:srgbClr val="1A1A1A"/>
                </a:solidFill>
                <a:latin typeface="Arial"/>
              </a:rPr>
              <a:t>ω</a:t>
            </a:r>
            <a:r>
              <a:rPr sz="660" b="0" i="0">
                <a:solidFill>
                  <a:srgbClr val="1A1A1A"/>
                </a:solidFill>
                <a:latin typeface="Arial"/>
              </a:rPr>
              <a:t>₁</a:t>
            </a:r>
            <a:r>
              <a:rPr sz="660" b="0" i="1">
                <a:solidFill>
                  <a:srgbClr val="1A1A1A"/>
                </a:solidFill>
                <a:latin typeface="Arial"/>
              </a:rPr>
              <a:t>τ</a:t>
            </a:r>
            <a:r>
              <a:rPr sz="660" b="0" i="0">
                <a:solidFill>
                  <a:srgbClr val="1A1A1A"/>
                </a:solidFill>
                <a:latin typeface="Arial"/>
              </a:rPr>
              <a:t>), …, sin(</a:t>
            </a:r>
            <a:r>
              <a:rPr sz="660" b="0" i="1">
                <a:solidFill>
                  <a:srgbClr val="1A1A1A"/>
                </a:solidFill>
                <a:latin typeface="Arial"/>
              </a:rPr>
              <a:t>ω</a:t>
            </a:r>
            <a:r>
              <a:rPr sz="660" b="0" i="0">
                <a:solidFill>
                  <a:srgbClr val="1A1A1A"/>
                </a:solidFill>
                <a:latin typeface="Arial"/>
              </a:rPr>
              <a:t>ₘ</a:t>
            </a:r>
            <a:r>
              <a:rPr sz="660" b="0" i="1">
                <a:solidFill>
                  <a:srgbClr val="1A1A1A"/>
                </a:solidFill>
                <a:latin typeface="Arial"/>
              </a:rPr>
              <a:t>τ</a:t>
            </a:r>
            <a:r>
              <a:rPr sz="660" b="0" i="0">
                <a:solidFill>
                  <a:srgbClr val="1A1A1A"/>
                </a:solidFill>
                <a:latin typeface="Arial"/>
              </a:rPr>
              <a:t>), cos(</a:t>
            </a:r>
            <a:r>
              <a:rPr sz="660" b="0" i="1">
                <a:solidFill>
                  <a:srgbClr val="1A1A1A"/>
                </a:solidFill>
                <a:latin typeface="Arial"/>
              </a:rPr>
              <a:t>ω</a:t>
            </a:r>
            <a:r>
              <a:rPr sz="660" b="0" i="0">
                <a:solidFill>
                  <a:srgbClr val="1A1A1A"/>
                </a:solidFill>
                <a:latin typeface="Arial"/>
              </a:rPr>
              <a:t>ₘ</a:t>
            </a:r>
            <a:r>
              <a:rPr sz="660" b="0" i="1">
                <a:solidFill>
                  <a:srgbClr val="1A1A1A"/>
                </a:solidFill>
                <a:latin typeface="Arial"/>
              </a:rPr>
              <a:t>τ</a:t>
            </a:r>
            <a:r>
              <a:rPr sz="660" b="0" i="0">
                <a:solidFill>
                  <a:srgbClr val="1A1A1A"/>
                </a:solidFill>
                <a:latin typeface="Arial"/>
              </a:rPr>
              <a:t>)]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78807" y="978407"/>
            <a:ext cx="292608" cy="1280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590" b="0" i="1">
                <a:solidFill>
                  <a:srgbClr val="E8833A"/>
                </a:solidFill>
                <a:latin typeface="Arial"/>
              </a:rPr>
              <a:t>ω₁</a:t>
            </a:r>
          </a:p>
        </p:txBody>
      </p:sp>
      <p:sp>
        <p:nvSpPr>
          <p:cNvPr id="43" name="Freeform 42"/>
          <p:cNvSpPr/>
          <p:nvPr/>
        </p:nvSpPr>
        <p:spPr>
          <a:xfrm>
            <a:off x="4517136" y="960119"/>
            <a:ext cx="1920239" cy="164593"/>
          </a:xfrm>
          <a:custGeom>
            <a:avLst/>
            <a:gdLst/>
            <a:ahLst/>
            <a:cxnLst/>
            <a:rect l="l" t="t" r="r" b="b"/>
            <a:pathLst>
              <a:path w="1920239" h="164593">
                <a:moveTo>
                  <a:pt x="0" y="82296"/>
                </a:moveTo>
                <a:lnTo>
                  <a:pt x="12001" y="79066"/>
                </a:lnTo>
                <a:lnTo>
                  <a:pt x="24003" y="75840"/>
                </a:lnTo>
                <a:lnTo>
                  <a:pt x="36004" y="72624"/>
                </a:lnTo>
                <a:lnTo>
                  <a:pt x="48006" y="69423"/>
                </a:lnTo>
                <a:lnTo>
                  <a:pt x="60007" y="66241"/>
                </a:lnTo>
                <a:lnTo>
                  <a:pt x="72009" y="63085"/>
                </a:lnTo>
                <a:lnTo>
                  <a:pt x="84010" y="59958"/>
                </a:lnTo>
                <a:lnTo>
                  <a:pt x="96012" y="56866"/>
                </a:lnTo>
                <a:lnTo>
                  <a:pt x="108013" y="53812"/>
                </a:lnTo>
                <a:lnTo>
                  <a:pt x="120014" y="50803"/>
                </a:lnTo>
                <a:lnTo>
                  <a:pt x="132016" y="47842"/>
                </a:lnTo>
                <a:lnTo>
                  <a:pt x="144017" y="44935"/>
                </a:lnTo>
                <a:lnTo>
                  <a:pt x="156019" y="42085"/>
                </a:lnTo>
                <a:lnTo>
                  <a:pt x="168020" y="39297"/>
                </a:lnTo>
                <a:lnTo>
                  <a:pt x="180022" y="36575"/>
                </a:lnTo>
                <a:lnTo>
                  <a:pt x="192023" y="33924"/>
                </a:lnTo>
                <a:lnTo>
                  <a:pt x="204025" y="31348"/>
                </a:lnTo>
                <a:lnTo>
                  <a:pt x="216027" y="28850"/>
                </a:lnTo>
                <a:lnTo>
                  <a:pt x="228028" y="26434"/>
                </a:lnTo>
                <a:lnTo>
                  <a:pt x="240030" y="24104"/>
                </a:lnTo>
                <a:lnTo>
                  <a:pt x="252031" y="21865"/>
                </a:lnTo>
                <a:lnTo>
                  <a:pt x="264033" y="19718"/>
                </a:lnTo>
                <a:lnTo>
                  <a:pt x="276034" y="17668"/>
                </a:lnTo>
                <a:lnTo>
                  <a:pt x="288036" y="15718"/>
                </a:lnTo>
                <a:lnTo>
                  <a:pt x="300037" y="13870"/>
                </a:lnTo>
                <a:lnTo>
                  <a:pt x="312039" y="12128"/>
                </a:lnTo>
                <a:lnTo>
                  <a:pt x="324040" y="10494"/>
                </a:lnTo>
                <a:lnTo>
                  <a:pt x="336041" y="8970"/>
                </a:lnTo>
                <a:lnTo>
                  <a:pt x="348043" y="7560"/>
                </a:lnTo>
                <a:lnTo>
                  <a:pt x="360044" y="6265"/>
                </a:lnTo>
                <a:lnTo>
                  <a:pt x="372046" y="5087"/>
                </a:lnTo>
                <a:lnTo>
                  <a:pt x="384047" y="4028"/>
                </a:lnTo>
                <a:lnTo>
                  <a:pt x="396049" y="3090"/>
                </a:lnTo>
                <a:lnTo>
                  <a:pt x="408051" y="2274"/>
                </a:lnTo>
                <a:lnTo>
                  <a:pt x="420052" y="1582"/>
                </a:lnTo>
                <a:lnTo>
                  <a:pt x="432054" y="1014"/>
                </a:lnTo>
                <a:lnTo>
                  <a:pt x="444055" y="571"/>
                </a:lnTo>
                <a:lnTo>
                  <a:pt x="456057" y="254"/>
                </a:lnTo>
                <a:lnTo>
                  <a:pt x="468058" y="64"/>
                </a:lnTo>
                <a:lnTo>
                  <a:pt x="480060" y="0"/>
                </a:lnTo>
                <a:lnTo>
                  <a:pt x="492061" y="64"/>
                </a:lnTo>
                <a:lnTo>
                  <a:pt x="504062" y="254"/>
                </a:lnTo>
                <a:lnTo>
                  <a:pt x="516064" y="571"/>
                </a:lnTo>
                <a:lnTo>
                  <a:pt x="528066" y="1014"/>
                </a:lnTo>
                <a:lnTo>
                  <a:pt x="540067" y="1582"/>
                </a:lnTo>
                <a:lnTo>
                  <a:pt x="552068" y="2274"/>
                </a:lnTo>
                <a:lnTo>
                  <a:pt x="564070" y="3090"/>
                </a:lnTo>
                <a:lnTo>
                  <a:pt x="576071" y="4028"/>
                </a:lnTo>
                <a:lnTo>
                  <a:pt x="588073" y="5087"/>
                </a:lnTo>
                <a:lnTo>
                  <a:pt x="600075" y="6265"/>
                </a:lnTo>
                <a:lnTo>
                  <a:pt x="612076" y="7560"/>
                </a:lnTo>
                <a:lnTo>
                  <a:pt x="624078" y="8970"/>
                </a:lnTo>
                <a:lnTo>
                  <a:pt x="636079" y="10494"/>
                </a:lnTo>
                <a:lnTo>
                  <a:pt x="648081" y="12128"/>
                </a:lnTo>
                <a:lnTo>
                  <a:pt x="660082" y="13870"/>
                </a:lnTo>
                <a:lnTo>
                  <a:pt x="672084" y="15718"/>
                </a:lnTo>
                <a:lnTo>
                  <a:pt x="684085" y="17668"/>
                </a:lnTo>
                <a:lnTo>
                  <a:pt x="696087" y="19718"/>
                </a:lnTo>
                <a:lnTo>
                  <a:pt x="708088" y="21865"/>
                </a:lnTo>
                <a:lnTo>
                  <a:pt x="720089" y="24104"/>
                </a:lnTo>
                <a:lnTo>
                  <a:pt x="732091" y="26434"/>
                </a:lnTo>
                <a:lnTo>
                  <a:pt x="744092" y="28850"/>
                </a:lnTo>
                <a:lnTo>
                  <a:pt x="756094" y="31348"/>
                </a:lnTo>
                <a:lnTo>
                  <a:pt x="768095" y="33924"/>
                </a:lnTo>
                <a:lnTo>
                  <a:pt x="780097" y="36575"/>
                </a:lnTo>
                <a:lnTo>
                  <a:pt x="792098" y="39297"/>
                </a:lnTo>
                <a:lnTo>
                  <a:pt x="804100" y="42085"/>
                </a:lnTo>
                <a:lnTo>
                  <a:pt x="816102" y="44935"/>
                </a:lnTo>
                <a:lnTo>
                  <a:pt x="828103" y="47842"/>
                </a:lnTo>
                <a:lnTo>
                  <a:pt x="840105" y="50803"/>
                </a:lnTo>
                <a:lnTo>
                  <a:pt x="852106" y="53812"/>
                </a:lnTo>
                <a:lnTo>
                  <a:pt x="864108" y="56866"/>
                </a:lnTo>
                <a:lnTo>
                  <a:pt x="876109" y="59958"/>
                </a:lnTo>
                <a:lnTo>
                  <a:pt x="888111" y="63085"/>
                </a:lnTo>
                <a:lnTo>
                  <a:pt x="900112" y="66241"/>
                </a:lnTo>
                <a:lnTo>
                  <a:pt x="912113" y="69423"/>
                </a:lnTo>
                <a:lnTo>
                  <a:pt x="924115" y="72624"/>
                </a:lnTo>
                <a:lnTo>
                  <a:pt x="936116" y="75840"/>
                </a:lnTo>
                <a:lnTo>
                  <a:pt x="948118" y="79066"/>
                </a:lnTo>
                <a:lnTo>
                  <a:pt x="960119" y="82296"/>
                </a:lnTo>
                <a:lnTo>
                  <a:pt x="972121" y="85527"/>
                </a:lnTo>
                <a:lnTo>
                  <a:pt x="984122" y="88753"/>
                </a:lnTo>
                <a:lnTo>
                  <a:pt x="996124" y="91969"/>
                </a:lnTo>
                <a:lnTo>
                  <a:pt x="1008126" y="95170"/>
                </a:lnTo>
                <a:lnTo>
                  <a:pt x="1020127" y="98352"/>
                </a:lnTo>
                <a:lnTo>
                  <a:pt x="1032129" y="101508"/>
                </a:lnTo>
                <a:lnTo>
                  <a:pt x="1044130" y="104635"/>
                </a:lnTo>
                <a:lnTo>
                  <a:pt x="1056132" y="107727"/>
                </a:lnTo>
                <a:lnTo>
                  <a:pt x="1068133" y="110781"/>
                </a:lnTo>
                <a:lnTo>
                  <a:pt x="1080135" y="113790"/>
                </a:lnTo>
                <a:lnTo>
                  <a:pt x="1092136" y="116751"/>
                </a:lnTo>
                <a:lnTo>
                  <a:pt x="1104137" y="119658"/>
                </a:lnTo>
                <a:lnTo>
                  <a:pt x="1116139" y="122508"/>
                </a:lnTo>
                <a:lnTo>
                  <a:pt x="1128141" y="125296"/>
                </a:lnTo>
                <a:lnTo>
                  <a:pt x="1140142" y="128018"/>
                </a:lnTo>
                <a:lnTo>
                  <a:pt x="1152143" y="130669"/>
                </a:lnTo>
                <a:lnTo>
                  <a:pt x="1164145" y="133245"/>
                </a:lnTo>
                <a:lnTo>
                  <a:pt x="1176146" y="135743"/>
                </a:lnTo>
                <a:lnTo>
                  <a:pt x="1188148" y="138159"/>
                </a:lnTo>
                <a:lnTo>
                  <a:pt x="1200150" y="140489"/>
                </a:lnTo>
                <a:lnTo>
                  <a:pt x="1212151" y="142728"/>
                </a:lnTo>
                <a:lnTo>
                  <a:pt x="1224153" y="144875"/>
                </a:lnTo>
                <a:lnTo>
                  <a:pt x="1236154" y="146925"/>
                </a:lnTo>
                <a:lnTo>
                  <a:pt x="1248156" y="148875"/>
                </a:lnTo>
                <a:lnTo>
                  <a:pt x="1260157" y="150723"/>
                </a:lnTo>
                <a:lnTo>
                  <a:pt x="1272159" y="152465"/>
                </a:lnTo>
                <a:lnTo>
                  <a:pt x="1284160" y="154099"/>
                </a:lnTo>
                <a:lnTo>
                  <a:pt x="1296162" y="155623"/>
                </a:lnTo>
                <a:lnTo>
                  <a:pt x="1308163" y="157033"/>
                </a:lnTo>
                <a:lnTo>
                  <a:pt x="1320164" y="158328"/>
                </a:lnTo>
                <a:lnTo>
                  <a:pt x="1332166" y="159506"/>
                </a:lnTo>
                <a:lnTo>
                  <a:pt x="1344167" y="160565"/>
                </a:lnTo>
                <a:lnTo>
                  <a:pt x="1356169" y="161503"/>
                </a:lnTo>
                <a:lnTo>
                  <a:pt x="1368170" y="162319"/>
                </a:lnTo>
                <a:lnTo>
                  <a:pt x="1380172" y="163011"/>
                </a:lnTo>
                <a:lnTo>
                  <a:pt x="1392173" y="163579"/>
                </a:lnTo>
                <a:lnTo>
                  <a:pt x="1404175" y="164022"/>
                </a:lnTo>
                <a:lnTo>
                  <a:pt x="1416177" y="164339"/>
                </a:lnTo>
                <a:lnTo>
                  <a:pt x="1428178" y="164529"/>
                </a:lnTo>
                <a:lnTo>
                  <a:pt x="1440180" y="164593"/>
                </a:lnTo>
                <a:lnTo>
                  <a:pt x="1452181" y="164529"/>
                </a:lnTo>
                <a:lnTo>
                  <a:pt x="1464183" y="164339"/>
                </a:lnTo>
                <a:lnTo>
                  <a:pt x="1476184" y="164022"/>
                </a:lnTo>
                <a:lnTo>
                  <a:pt x="1488186" y="163579"/>
                </a:lnTo>
                <a:lnTo>
                  <a:pt x="1500187" y="163011"/>
                </a:lnTo>
                <a:lnTo>
                  <a:pt x="1512189" y="162319"/>
                </a:lnTo>
                <a:lnTo>
                  <a:pt x="1524190" y="161503"/>
                </a:lnTo>
                <a:lnTo>
                  <a:pt x="1536191" y="160565"/>
                </a:lnTo>
                <a:lnTo>
                  <a:pt x="1548193" y="159506"/>
                </a:lnTo>
                <a:lnTo>
                  <a:pt x="1560194" y="158328"/>
                </a:lnTo>
                <a:lnTo>
                  <a:pt x="1572196" y="157033"/>
                </a:lnTo>
                <a:lnTo>
                  <a:pt x="1584197" y="155623"/>
                </a:lnTo>
                <a:lnTo>
                  <a:pt x="1596199" y="154099"/>
                </a:lnTo>
                <a:lnTo>
                  <a:pt x="1608201" y="152465"/>
                </a:lnTo>
                <a:lnTo>
                  <a:pt x="1620202" y="150723"/>
                </a:lnTo>
                <a:lnTo>
                  <a:pt x="1632204" y="148875"/>
                </a:lnTo>
                <a:lnTo>
                  <a:pt x="1644205" y="146925"/>
                </a:lnTo>
                <a:lnTo>
                  <a:pt x="1656207" y="144875"/>
                </a:lnTo>
                <a:lnTo>
                  <a:pt x="1668208" y="142728"/>
                </a:lnTo>
                <a:lnTo>
                  <a:pt x="1680210" y="140489"/>
                </a:lnTo>
                <a:lnTo>
                  <a:pt x="1692211" y="138159"/>
                </a:lnTo>
                <a:lnTo>
                  <a:pt x="1704212" y="135743"/>
                </a:lnTo>
                <a:lnTo>
                  <a:pt x="1716214" y="133245"/>
                </a:lnTo>
                <a:lnTo>
                  <a:pt x="1728216" y="130669"/>
                </a:lnTo>
                <a:lnTo>
                  <a:pt x="1740217" y="128018"/>
                </a:lnTo>
                <a:lnTo>
                  <a:pt x="1752218" y="125296"/>
                </a:lnTo>
                <a:lnTo>
                  <a:pt x="1764220" y="122508"/>
                </a:lnTo>
                <a:lnTo>
                  <a:pt x="1776221" y="119658"/>
                </a:lnTo>
                <a:lnTo>
                  <a:pt x="1788223" y="116751"/>
                </a:lnTo>
                <a:lnTo>
                  <a:pt x="1800225" y="113790"/>
                </a:lnTo>
                <a:lnTo>
                  <a:pt x="1812226" y="110781"/>
                </a:lnTo>
                <a:lnTo>
                  <a:pt x="1824228" y="107727"/>
                </a:lnTo>
                <a:lnTo>
                  <a:pt x="1836229" y="104635"/>
                </a:lnTo>
                <a:lnTo>
                  <a:pt x="1848231" y="101508"/>
                </a:lnTo>
                <a:lnTo>
                  <a:pt x="1860232" y="98352"/>
                </a:lnTo>
                <a:lnTo>
                  <a:pt x="1872233" y="95170"/>
                </a:lnTo>
                <a:lnTo>
                  <a:pt x="1884235" y="91969"/>
                </a:lnTo>
                <a:lnTo>
                  <a:pt x="1896237" y="88753"/>
                </a:lnTo>
                <a:lnTo>
                  <a:pt x="1908238" y="85527"/>
                </a:lnTo>
                <a:lnTo>
                  <a:pt x="1920239" y="82296"/>
                </a:lnTo>
              </a:path>
            </a:pathLst>
          </a:custGeom>
          <a:noFill/>
          <a:ln w="11430">
            <a:solidFill>
              <a:srgbClr val="E88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178807" y="1234439"/>
            <a:ext cx="292608" cy="1280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590" b="0" i="1">
                <a:solidFill>
                  <a:srgbClr val="E8833A"/>
                </a:solidFill>
                <a:latin typeface="Arial"/>
              </a:rPr>
              <a:t>ω₂</a:t>
            </a:r>
          </a:p>
        </p:txBody>
      </p:sp>
      <p:sp>
        <p:nvSpPr>
          <p:cNvPr id="45" name="Freeform 44"/>
          <p:cNvSpPr/>
          <p:nvPr/>
        </p:nvSpPr>
        <p:spPr>
          <a:xfrm>
            <a:off x="4517136" y="1216154"/>
            <a:ext cx="1920239" cy="164579"/>
          </a:xfrm>
          <a:custGeom>
            <a:avLst/>
            <a:gdLst/>
            <a:ahLst/>
            <a:cxnLst/>
            <a:rect l="l" t="t" r="r" b="b"/>
            <a:pathLst>
              <a:path w="1920239" h="164579">
                <a:moveTo>
                  <a:pt x="0" y="82294"/>
                </a:moveTo>
                <a:lnTo>
                  <a:pt x="12001" y="73906"/>
                </a:lnTo>
                <a:lnTo>
                  <a:pt x="24003" y="65605"/>
                </a:lnTo>
                <a:lnTo>
                  <a:pt x="36004" y="57478"/>
                </a:lnTo>
                <a:lnTo>
                  <a:pt x="48006" y="49610"/>
                </a:lnTo>
                <a:lnTo>
                  <a:pt x="60007" y="42082"/>
                </a:lnTo>
                <a:lnTo>
                  <a:pt x="72009" y="34973"/>
                </a:lnTo>
                <a:lnTo>
                  <a:pt x="84010" y="28357"/>
                </a:lnTo>
                <a:lnTo>
                  <a:pt x="96012" y="22302"/>
                </a:lnTo>
                <a:lnTo>
                  <a:pt x="108013" y="16873"/>
                </a:lnTo>
                <a:lnTo>
                  <a:pt x="120014" y="12125"/>
                </a:lnTo>
                <a:lnTo>
                  <a:pt x="132016" y="8107"/>
                </a:lnTo>
                <a:lnTo>
                  <a:pt x="144017" y="4863"/>
                </a:lnTo>
                <a:lnTo>
                  <a:pt x="156019" y="2425"/>
                </a:lnTo>
                <a:lnTo>
                  <a:pt x="168020" y="819"/>
                </a:lnTo>
                <a:lnTo>
                  <a:pt x="180022" y="61"/>
                </a:lnTo>
                <a:lnTo>
                  <a:pt x="192023" y="160"/>
                </a:lnTo>
                <a:lnTo>
                  <a:pt x="204025" y="1114"/>
                </a:lnTo>
                <a:lnTo>
                  <a:pt x="216027" y="2914"/>
                </a:lnTo>
                <a:lnTo>
                  <a:pt x="228028" y="5541"/>
                </a:lnTo>
                <a:lnTo>
                  <a:pt x="240030" y="8967"/>
                </a:lnTo>
                <a:lnTo>
                  <a:pt x="252031" y="13157"/>
                </a:lnTo>
                <a:lnTo>
                  <a:pt x="264033" y="18067"/>
                </a:lnTo>
                <a:lnTo>
                  <a:pt x="276034" y="23646"/>
                </a:lnTo>
                <a:lnTo>
                  <a:pt x="288036" y="29836"/>
                </a:lnTo>
                <a:lnTo>
                  <a:pt x="300037" y="36572"/>
                </a:lnTo>
                <a:lnTo>
                  <a:pt x="312039" y="43785"/>
                </a:lnTo>
                <a:lnTo>
                  <a:pt x="324040" y="51398"/>
                </a:lnTo>
                <a:lnTo>
                  <a:pt x="336041" y="59334"/>
                </a:lnTo>
                <a:lnTo>
                  <a:pt x="348043" y="67508"/>
                </a:lnTo>
                <a:lnTo>
                  <a:pt x="360044" y="75837"/>
                </a:lnTo>
                <a:lnTo>
                  <a:pt x="372046" y="84232"/>
                </a:lnTo>
                <a:lnTo>
                  <a:pt x="384047" y="92608"/>
                </a:lnTo>
                <a:lnTo>
                  <a:pt x="396049" y="100876"/>
                </a:lnTo>
                <a:lnTo>
                  <a:pt x="408051" y="108951"/>
                </a:lnTo>
                <a:lnTo>
                  <a:pt x="420052" y="116748"/>
                </a:lnTo>
                <a:lnTo>
                  <a:pt x="432054" y="124186"/>
                </a:lnTo>
                <a:lnTo>
                  <a:pt x="444055" y="131187"/>
                </a:lnTo>
                <a:lnTo>
                  <a:pt x="456057" y="137680"/>
                </a:lnTo>
                <a:lnTo>
                  <a:pt x="468058" y="143595"/>
                </a:lnTo>
                <a:lnTo>
                  <a:pt x="480060" y="148872"/>
                </a:lnTo>
                <a:lnTo>
                  <a:pt x="492061" y="153456"/>
                </a:lnTo>
                <a:lnTo>
                  <a:pt x="504062" y="157298"/>
                </a:lnTo>
                <a:lnTo>
                  <a:pt x="516064" y="160360"/>
                </a:lnTo>
                <a:lnTo>
                  <a:pt x="528066" y="162608"/>
                </a:lnTo>
                <a:lnTo>
                  <a:pt x="540067" y="164019"/>
                </a:lnTo>
                <a:lnTo>
                  <a:pt x="552068" y="164579"/>
                </a:lnTo>
                <a:lnTo>
                  <a:pt x="564070" y="164283"/>
                </a:lnTo>
                <a:lnTo>
                  <a:pt x="576071" y="163132"/>
                </a:lnTo>
                <a:lnTo>
                  <a:pt x="588073" y="161139"/>
                </a:lnTo>
                <a:lnTo>
                  <a:pt x="600075" y="158325"/>
                </a:lnTo>
                <a:lnTo>
                  <a:pt x="612076" y="154719"/>
                </a:lnTo>
                <a:lnTo>
                  <a:pt x="624078" y="150359"/>
                </a:lnTo>
                <a:lnTo>
                  <a:pt x="636079" y="145290"/>
                </a:lnTo>
                <a:lnTo>
                  <a:pt x="648081" y="139564"/>
                </a:lnTo>
                <a:lnTo>
                  <a:pt x="660082" y="133242"/>
                </a:lnTo>
                <a:lnTo>
                  <a:pt x="672084" y="126390"/>
                </a:lnTo>
                <a:lnTo>
                  <a:pt x="684085" y="119078"/>
                </a:lnTo>
                <a:lnTo>
                  <a:pt x="696087" y="111383"/>
                </a:lnTo>
                <a:lnTo>
                  <a:pt x="708088" y="103385"/>
                </a:lnTo>
                <a:lnTo>
                  <a:pt x="720089" y="95167"/>
                </a:lnTo>
                <a:lnTo>
                  <a:pt x="732091" y="86816"/>
                </a:lnTo>
                <a:lnTo>
                  <a:pt x="744092" y="78417"/>
                </a:lnTo>
                <a:lnTo>
                  <a:pt x="756094" y="70058"/>
                </a:lnTo>
                <a:lnTo>
                  <a:pt x="768095" y="61827"/>
                </a:lnTo>
                <a:lnTo>
                  <a:pt x="780097" y="53809"/>
                </a:lnTo>
                <a:lnTo>
                  <a:pt x="792098" y="46088"/>
                </a:lnTo>
                <a:lnTo>
                  <a:pt x="804100" y="38744"/>
                </a:lnTo>
                <a:lnTo>
                  <a:pt x="816102" y="31854"/>
                </a:lnTo>
                <a:lnTo>
                  <a:pt x="828103" y="25489"/>
                </a:lnTo>
                <a:lnTo>
                  <a:pt x="840105" y="19715"/>
                </a:lnTo>
                <a:lnTo>
                  <a:pt x="852106" y="14593"/>
                </a:lnTo>
                <a:lnTo>
                  <a:pt x="864108" y="10177"/>
                </a:lnTo>
                <a:lnTo>
                  <a:pt x="876109" y="6512"/>
                </a:lnTo>
                <a:lnTo>
                  <a:pt x="888111" y="3636"/>
                </a:lnTo>
                <a:lnTo>
                  <a:pt x="900112" y="1579"/>
                </a:lnTo>
                <a:lnTo>
                  <a:pt x="912113" y="363"/>
                </a:lnTo>
                <a:lnTo>
                  <a:pt x="924115" y="0"/>
                </a:lnTo>
                <a:lnTo>
                  <a:pt x="936116" y="494"/>
                </a:lnTo>
                <a:lnTo>
                  <a:pt x="948118" y="1841"/>
                </a:lnTo>
                <a:lnTo>
                  <a:pt x="960119" y="4025"/>
                </a:lnTo>
                <a:lnTo>
                  <a:pt x="972121" y="7025"/>
                </a:lnTo>
                <a:lnTo>
                  <a:pt x="984122" y="10809"/>
                </a:lnTo>
                <a:lnTo>
                  <a:pt x="996124" y="15337"/>
                </a:lnTo>
                <a:lnTo>
                  <a:pt x="1008126" y="20562"/>
                </a:lnTo>
                <a:lnTo>
                  <a:pt x="1020127" y="26431"/>
                </a:lnTo>
                <a:lnTo>
                  <a:pt x="1032129" y="32881"/>
                </a:lnTo>
                <a:lnTo>
                  <a:pt x="1044130" y="39846"/>
                </a:lnTo>
                <a:lnTo>
                  <a:pt x="1056132" y="47254"/>
                </a:lnTo>
                <a:lnTo>
                  <a:pt x="1068133" y="55026"/>
                </a:lnTo>
                <a:lnTo>
                  <a:pt x="1080135" y="63082"/>
                </a:lnTo>
                <a:lnTo>
                  <a:pt x="1092136" y="71338"/>
                </a:lnTo>
                <a:lnTo>
                  <a:pt x="1104137" y="79709"/>
                </a:lnTo>
                <a:lnTo>
                  <a:pt x="1116139" y="88106"/>
                </a:lnTo>
                <a:lnTo>
                  <a:pt x="1128141" y="96443"/>
                </a:lnTo>
                <a:lnTo>
                  <a:pt x="1140142" y="104632"/>
                </a:lnTo>
                <a:lnTo>
                  <a:pt x="1152143" y="112589"/>
                </a:lnTo>
                <a:lnTo>
                  <a:pt x="1164145" y="120230"/>
                </a:lnTo>
                <a:lnTo>
                  <a:pt x="1176146" y="127476"/>
                </a:lnTo>
                <a:lnTo>
                  <a:pt x="1188148" y="134251"/>
                </a:lnTo>
                <a:lnTo>
                  <a:pt x="1200150" y="140486"/>
                </a:lnTo>
                <a:lnTo>
                  <a:pt x="1212151" y="146114"/>
                </a:lnTo>
                <a:lnTo>
                  <a:pt x="1224153" y="151077"/>
                </a:lnTo>
                <a:lnTo>
                  <a:pt x="1236154" y="155324"/>
                </a:lnTo>
                <a:lnTo>
                  <a:pt x="1248156" y="158810"/>
                </a:lnTo>
                <a:lnTo>
                  <a:pt x="1260157" y="161500"/>
                </a:lnTo>
                <a:lnTo>
                  <a:pt x="1272159" y="163364"/>
                </a:lnTo>
                <a:lnTo>
                  <a:pt x="1284160" y="164384"/>
                </a:lnTo>
                <a:lnTo>
                  <a:pt x="1296162" y="164549"/>
                </a:lnTo>
                <a:lnTo>
                  <a:pt x="1308163" y="163857"/>
                </a:lnTo>
                <a:lnTo>
                  <a:pt x="1320164" y="162316"/>
                </a:lnTo>
                <a:lnTo>
                  <a:pt x="1332166" y="159941"/>
                </a:lnTo>
                <a:lnTo>
                  <a:pt x="1344167" y="156757"/>
                </a:lnTo>
                <a:lnTo>
                  <a:pt x="1356169" y="152798"/>
                </a:lnTo>
                <a:lnTo>
                  <a:pt x="1368170" y="148104"/>
                </a:lnTo>
                <a:lnTo>
                  <a:pt x="1380172" y="142725"/>
                </a:lnTo>
                <a:lnTo>
                  <a:pt x="1392173" y="136717"/>
                </a:lnTo>
                <a:lnTo>
                  <a:pt x="1404175" y="130141"/>
                </a:lnTo>
                <a:lnTo>
                  <a:pt x="1416177" y="123068"/>
                </a:lnTo>
                <a:lnTo>
                  <a:pt x="1428178" y="115569"/>
                </a:lnTo>
                <a:lnTo>
                  <a:pt x="1440180" y="107724"/>
                </a:lnTo>
                <a:lnTo>
                  <a:pt x="1452181" y="99614"/>
                </a:lnTo>
                <a:lnTo>
                  <a:pt x="1464183" y="91324"/>
                </a:lnTo>
                <a:lnTo>
                  <a:pt x="1476184" y="82940"/>
                </a:lnTo>
                <a:lnTo>
                  <a:pt x="1488186" y="74549"/>
                </a:lnTo>
                <a:lnTo>
                  <a:pt x="1500187" y="66238"/>
                </a:lnTo>
                <a:lnTo>
                  <a:pt x="1512189" y="58095"/>
                </a:lnTo>
                <a:lnTo>
                  <a:pt x="1524190" y="50204"/>
                </a:lnTo>
                <a:lnTo>
                  <a:pt x="1536191" y="42647"/>
                </a:lnTo>
                <a:lnTo>
                  <a:pt x="1548193" y="35503"/>
                </a:lnTo>
                <a:lnTo>
                  <a:pt x="1560194" y="28847"/>
                </a:lnTo>
                <a:lnTo>
                  <a:pt x="1572196" y="22747"/>
                </a:lnTo>
                <a:lnTo>
                  <a:pt x="1584197" y="17267"/>
                </a:lnTo>
                <a:lnTo>
                  <a:pt x="1596199" y="12465"/>
                </a:lnTo>
                <a:lnTo>
                  <a:pt x="1608201" y="8389"/>
                </a:lnTo>
                <a:lnTo>
                  <a:pt x="1620202" y="5084"/>
                </a:lnTo>
                <a:lnTo>
                  <a:pt x="1632204" y="2583"/>
                </a:lnTo>
                <a:lnTo>
                  <a:pt x="1644205" y="912"/>
                </a:lnTo>
                <a:lnTo>
                  <a:pt x="1656207" y="89"/>
                </a:lnTo>
                <a:lnTo>
                  <a:pt x="1668208" y="122"/>
                </a:lnTo>
                <a:lnTo>
                  <a:pt x="1680210" y="1011"/>
                </a:lnTo>
                <a:lnTo>
                  <a:pt x="1692211" y="2746"/>
                </a:lnTo>
                <a:lnTo>
                  <a:pt x="1704212" y="5310"/>
                </a:lnTo>
                <a:lnTo>
                  <a:pt x="1716214" y="8676"/>
                </a:lnTo>
                <a:lnTo>
                  <a:pt x="1728216" y="12809"/>
                </a:lnTo>
                <a:lnTo>
                  <a:pt x="1740217" y="17665"/>
                </a:lnTo>
                <a:lnTo>
                  <a:pt x="1752218" y="23195"/>
                </a:lnTo>
                <a:lnTo>
                  <a:pt x="1764220" y="29340"/>
                </a:lnTo>
                <a:lnTo>
                  <a:pt x="1776221" y="36036"/>
                </a:lnTo>
                <a:lnTo>
                  <a:pt x="1788223" y="43215"/>
                </a:lnTo>
                <a:lnTo>
                  <a:pt x="1800225" y="50800"/>
                </a:lnTo>
                <a:lnTo>
                  <a:pt x="1812226" y="58714"/>
                </a:lnTo>
                <a:lnTo>
                  <a:pt x="1824228" y="66873"/>
                </a:lnTo>
                <a:lnTo>
                  <a:pt x="1836229" y="75192"/>
                </a:lnTo>
                <a:lnTo>
                  <a:pt x="1848231" y="83586"/>
                </a:lnTo>
                <a:lnTo>
                  <a:pt x="1860232" y="91966"/>
                </a:lnTo>
                <a:lnTo>
                  <a:pt x="1872233" y="100246"/>
                </a:lnTo>
                <a:lnTo>
                  <a:pt x="1884235" y="108338"/>
                </a:lnTo>
                <a:lnTo>
                  <a:pt x="1896237" y="116159"/>
                </a:lnTo>
                <a:lnTo>
                  <a:pt x="1908238" y="123628"/>
                </a:lnTo>
                <a:lnTo>
                  <a:pt x="1920239" y="130666"/>
                </a:lnTo>
              </a:path>
            </a:pathLst>
          </a:custGeom>
          <a:noFill/>
          <a:ln w="11430">
            <a:solidFill>
              <a:srgbClr val="E88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178807" y="1527048"/>
            <a:ext cx="292608" cy="1280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590" b="0" i="1">
                <a:solidFill>
                  <a:srgbClr val="E8833A"/>
                </a:solidFill>
                <a:latin typeface="Arial"/>
              </a:rPr>
              <a:t>ωₘ</a:t>
            </a:r>
          </a:p>
        </p:txBody>
      </p:sp>
      <p:sp>
        <p:nvSpPr>
          <p:cNvPr id="47" name="Freeform 46"/>
          <p:cNvSpPr/>
          <p:nvPr/>
        </p:nvSpPr>
        <p:spPr>
          <a:xfrm>
            <a:off x="4517136" y="1508770"/>
            <a:ext cx="1920239" cy="164579"/>
          </a:xfrm>
          <a:custGeom>
            <a:avLst/>
            <a:gdLst/>
            <a:ahLst/>
            <a:cxnLst/>
            <a:rect l="l" t="t" r="r" b="b"/>
            <a:pathLst>
              <a:path w="1920239" h="164579">
                <a:moveTo>
                  <a:pt x="0" y="82286"/>
                </a:moveTo>
                <a:lnTo>
                  <a:pt x="12001" y="62446"/>
                </a:lnTo>
                <a:lnTo>
                  <a:pt x="24003" y="43777"/>
                </a:lnTo>
                <a:lnTo>
                  <a:pt x="36004" y="27379"/>
                </a:lnTo>
                <a:lnTo>
                  <a:pt x="48006" y="14220"/>
                </a:lnTo>
                <a:lnTo>
                  <a:pt x="60007" y="5076"/>
                </a:lnTo>
                <a:lnTo>
                  <a:pt x="72009" y="486"/>
                </a:lnTo>
                <a:lnTo>
                  <a:pt x="84010" y="722"/>
                </a:lnTo>
                <a:lnTo>
                  <a:pt x="96012" y="5769"/>
                </a:lnTo>
                <a:lnTo>
                  <a:pt x="108013" y="15329"/>
                </a:lnTo>
                <a:lnTo>
                  <a:pt x="120014" y="28839"/>
                </a:lnTo>
                <a:lnTo>
                  <a:pt x="132016" y="45501"/>
                </a:lnTo>
                <a:lnTo>
                  <a:pt x="144017" y="64333"/>
                </a:lnTo>
                <a:lnTo>
                  <a:pt x="156019" y="84224"/>
                </a:lnTo>
                <a:lnTo>
                  <a:pt x="168020" y="104001"/>
                </a:lnTo>
                <a:lnTo>
                  <a:pt x="180022" y="122497"/>
                </a:lnTo>
                <a:lnTo>
                  <a:pt x="192023" y="138621"/>
                </a:lnTo>
                <a:lnTo>
                  <a:pt x="204025" y="151422"/>
                </a:lnTo>
                <a:lnTo>
                  <a:pt x="216027" y="160145"/>
                </a:lnTo>
                <a:lnTo>
                  <a:pt x="228028" y="164275"/>
                </a:lnTo>
                <a:lnTo>
                  <a:pt x="240030" y="163568"/>
                </a:lnTo>
                <a:lnTo>
                  <a:pt x="252031" y="158067"/>
                </a:lnTo>
                <a:lnTo>
                  <a:pt x="264033" y="148096"/>
                </a:lnTo>
                <a:lnTo>
                  <a:pt x="276034" y="134243"/>
                </a:lnTo>
                <a:lnTo>
                  <a:pt x="288036" y="117325"/>
                </a:lnTo>
                <a:lnTo>
                  <a:pt x="300037" y="98341"/>
                </a:lnTo>
                <a:lnTo>
                  <a:pt x="312039" y="78409"/>
                </a:lnTo>
                <a:lnTo>
                  <a:pt x="324040" y="58706"/>
                </a:lnTo>
                <a:lnTo>
                  <a:pt x="336041" y="40393"/>
                </a:lnTo>
                <a:lnTo>
                  <a:pt x="348043" y="24552"/>
                </a:lnTo>
                <a:lnTo>
                  <a:pt x="360044" y="12117"/>
                </a:lnTo>
                <a:lnTo>
                  <a:pt x="372046" y="3820"/>
                </a:lnTo>
                <a:lnTo>
                  <a:pt x="384047" y="152"/>
                </a:lnTo>
                <a:lnTo>
                  <a:pt x="396049" y="1329"/>
                </a:lnTo>
                <a:lnTo>
                  <a:pt x="408051" y="7281"/>
                </a:lnTo>
                <a:lnTo>
                  <a:pt x="420052" y="17657"/>
                </a:lnTo>
                <a:lnTo>
                  <a:pt x="432054" y="31846"/>
                </a:lnTo>
                <a:lnTo>
                  <a:pt x="444055" y="49010"/>
                </a:lnTo>
                <a:lnTo>
                  <a:pt x="456057" y="68136"/>
                </a:lnTo>
                <a:lnTo>
                  <a:pt x="468058" y="88098"/>
                </a:lnTo>
                <a:lnTo>
                  <a:pt x="480060" y="107716"/>
                </a:lnTo>
                <a:lnTo>
                  <a:pt x="492061" y="125835"/>
                </a:lnTo>
                <a:lnTo>
                  <a:pt x="504062" y="141384"/>
                </a:lnTo>
                <a:lnTo>
                  <a:pt x="516064" y="153448"/>
                </a:lnTo>
                <a:lnTo>
                  <a:pt x="528066" y="161314"/>
                </a:lnTo>
                <a:lnTo>
                  <a:pt x="540067" y="164518"/>
                </a:lnTo>
                <a:lnTo>
                  <a:pt x="552068" y="162872"/>
                </a:lnTo>
                <a:lnTo>
                  <a:pt x="564070" y="156472"/>
                </a:lnTo>
                <a:lnTo>
                  <a:pt x="576071" y="145696"/>
                </a:lnTo>
                <a:lnTo>
                  <a:pt x="588073" y="131179"/>
                </a:lnTo>
                <a:lnTo>
                  <a:pt x="600075" y="113779"/>
                </a:lnTo>
                <a:lnTo>
                  <a:pt x="612076" y="94521"/>
                </a:lnTo>
                <a:lnTo>
                  <a:pt x="624078" y="74541"/>
                </a:lnTo>
                <a:lnTo>
                  <a:pt x="636079" y="55018"/>
                </a:lnTo>
                <a:lnTo>
                  <a:pt x="648081" y="37103"/>
                </a:lnTo>
                <a:lnTo>
                  <a:pt x="660082" y="21854"/>
                </a:lnTo>
                <a:lnTo>
                  <a:pt x="672084" y="10169"/>
                </a:lnTo>
                <a:lnTo>
                  <a:pt x="684085" y="2738"/>
                </a:lnTo>
                <a:lnTo>
                  <a:pt x="696087" y="0"/>
                </a:lnTo>
                <a:lnTo>
                  <a:pt x="708088" y="2115"/>
                </a:lnTo>
                <a:lnTo>
                  <a:pt x="720089" y="8959"/>
                </a:lnTo>
                <a:lnTo>
                  <a:pt x="732091" y="20129"/>
                </a:lnTo>
                <a:lnTo>
                  <a:pt x="744092" y="34965"/>
                </a:lnTo>
                <a:lnTo>
                  <a:pt x="756094" y="52592"/>
                </a:lnTo>
                <a:lnTo>
                  <a:pt x="768095" y="71971"/>
                </a:lnTo>
                <a:lnTo>
                  <a:pt x="780097" y="91958"/>
                </a:lnTo>
                <a:lnTo>
                  <a:pt x="792098" y="111375"/>
                </a:lnTo>
                <a:lnTo>
                  <a:pt x="804100" y="129076"/>
                </a:lnTo>
                <a:lnTo>
                  <a:pt x="816102" y="144017"/>
                </a:lnTo>
                <a:lnTo>
                  <a:pt x="828103" y="155316"/>
                </a:lnTo>
                <a:lnTo>
                  <a:pt x="840105" y="162308"/>
                </a:lnTo>
                <a:lnTo>
                  <a:pt x="852106" y="164579"/>
                </a:lnTo>
                <a:lnTo>
                  <a:pt x="864108" y="161996"/>
                </a:lnTo>
                <a:lnTo>
                  <a:pt x="876109" y="154711"/>
                </a:lnTo>
                <a:lnTo>
                  <a:pt x="888111" y="143154"/>
                </a:lnTo>
                <a:lnTo>
                  <a:pt x="900112" y="128007"/>
                </a:lnTo>
                <a:lnTo>
                  <a:pt x="912113" y="110162"/>
                </a:lnTo>
                <a:lnTo>
                  <a:pt x="924115" y="90673"/>
                </a:lnTo>
                <a:lnTo>
                  <a:pt x="936116" y="70690"/>
                </a:lnTo>
                <a:lnTo>
                  <a:pt x="948118" y="51390"/>
                </a:lnTo>
                <a:lnTo>
                  <a:pt x="960119" y="33913"/>
                </a:lnTo>
                <a:lnTo>
                  <a:pt x="972121" y="19289"/>
                </a:lnTo>
                <a:lnTo>
                  <a:pt x="984122" y="8381"/>
                </a:lnTo>
                <a:lnTo>
                  <a:pt x="996124" y="1833"/>
                </a:lnTo>
                <a:lnTo>
                  <a:pt x="1008126" y="30"/>
                </a:lnTo>
                <a:lnTo>
                  <a:pt x="1020127" y="3079"/>
                </a:lnTo>
                <a:lnTo>
                  <a:pt x="1032129" y="10801"/>
                </a:lnTo>
                <a:lnTo>
                  <a:pt x="1044130" y="22739"/>
                </a:lnTo>
                <a:lnTo>
                  <a:pt x="1056132" y="38189"/>
                </a:lnTo>
                <a:lnTo>
                  <a:pt x="1068133" y="56241"/>
                </a:lnTo>
                <a:lnTo>
                  <a:pt x="1080135" y="75829"/>
                </a:lnTo>
                <a:lnTo>
                  <a:pt x="1092136" y="95797"/>
                </a:lnTo>
                <a:lnTo>
                  <a:pt x="1104137" y="114969"/>
                </a:lnTo>
                <a:lnTo>
                  <a:pt x="1116139" y="132213"/>
                </a:lnTo>
                <a:lnTo>
                  <a:pt x="1128141" y="146512"/>
                </a:lnTo>
                <a:lnTo>
                  <a:pt x="1140142" y="157022"/>
                </a:lnTo>
                <a:lnTo>
                  <a:pt x="1152143" y="163124"/>
                </a:lnTo>
                <a:lnTo>
                  <a:pt x="1164145" y="164457"/>
                </a:lnTo>
                <a:lnTo>
                  <a:pt x="1176146" y="160943"/>
                </a:lnTo>
                <a:lnTo>
                  <a:pt x="1188148" y="152790"/>
                </a:lnTo>
                <a:lnTo>
                  <a:pt x="1200150" y="140478"/>
                </a:lnTo>
                <a:lnTo>
                  <a:pt x="1212151" y="124733"/>
                </a:lnTo>
                <a:lnTo>
                  <a:pt x="1224153" y="106484"/>
                </a:lnTo>
                <a:lnTo>
                  <a:pt x="1236154" y="86808"/>
                </a:lnTo>
                <a:lnTo>
                  <a:pt x="1248156" y="66865"/>
                </a:lnTo>
                <a:lnTo>
                  <a:pt x="1260157" y="47831"/>
                </a:lnTo>
                <a:lnTo>
                  <a:pt x="1272159" y="30831"/>
                </a:lnTo>
                <a:lnTo>
                  <a:pt x="1284160" y="16865"/>
                </a:lnTo>
                <a:lnTo>
                  <a:pt x="1296162" y="6758"/>
                </a:lnTo>
                <a:lnTo>
                  <a:pt x="1308163" y="1106"/>
                </a:lnTo>
                <a:lnTo>
                  <a:pt x="1320164" y="243"/>
                </a:lnTo>
                <a:lnTo>
                  <a:pt x="1332166" y="4219"/>
                </a:lnTo>
                <a:lnTo>
                  <a:pt x="1344167" y="12801"/>
                </a:lnTo>
                <a:lnTo>
                  <a:pt x="1356169" y="25481"/>
                </a:lnTo>
                <a:lnTo>
                  <a:pt x="1368170" y="41511"/>
                </a:lnTo>
                <a:lnTo>
                  <a:pt x="1380172" y="59947"/>
                </a:lnTo>
                <a:lnTo>
                  <a:pt x="1392173" y="79701"/>
                </a:lnTo>
                <a:lnTo>
                  <a:pt x="1404175" y="99606"/>
                </a:lnTo>
                <a:lnTo>
                  <a:pt x="1416177" y="118491"/>
                </a:lnTo>
                <a:lnTo>
                  <a:pt x="1428178" y="135239"/>
                </a:lnTo>
                <a:lnTo>
                  <a:pt x="1440180" y="148864"/>
                </a:lnTo>
                <a:lnTo>
                  <a:pt x="1452181" y="158562"/>
                </a:lnTo>
                <a:lnTo>
                  <a:pt x="1464183" y="163760"/>
                </a:lnTo>
                <a:lnTo>
                  <a:pt x="1476184" y="164153"/>
                </a:lnTo>
                <a:lnTo>
                  <a:pt x="1488186" y="159716"/>
                </a:lnTo>
                <a:lnTo>
                  <a:pt x="1500187" y="150712"/>
                </a:lnTo>
                <a:lnTo>
                  <a:pt x="1512189" y="137672"/>
                </a:lnTo>
                <a:lnTo>
                  <a:pt x="1524190" y="121364"/>
                </a:lnTo>
                <a:lnTo>
                  <a:pt x="1536191" y="102752"/>
                </a:lnTo>
                <a:lnTo>
                  <a:pt x="1548193" y="82932"/>
                </a:lnTo>
                <a:lnTo>
                  <a:pt x="1560194" y="63074"/>
                </a:lnTo>
                <a:lnTo>
                  <a:pt x="1572196" y="44349"/>
                </a:lnTo>
                <a:lnTo>
                  <a:pt x="1584197" y="27862"/>
                </a:lnTo>
                <a:lnTo>
                  <a:pt x="1596199" y="14585"/>
                </a:lnTo>
                <a:lnTo>
                  <a:pt x="1608201" y="5302"/>
                </a:lnTo>
                <a:lnTo>
                  <a:pt x="1620202" y="560"/>
                </a:lnTo>
                <a:lnTo>
                  <a:pt x="1632204" y="638"/>
                </a:lnTo>
                <a:lnTo>
                  <a:pt x="1644205" y="5533"/>
                </a:lnTo>
                <a:lnTo>
                  <a:pt x="1656207" y="14955"/>
                </a:lnTo>
                <a:lnTo>
                  <a:pt x="1668208" y="28349"/>
                </a:lnTo>
                <a:lnTo>
                  <a:pt x="1680210" y="44924"/>
                </a:lnTo>
                <a:lnTo>
                  <a:pt x="1692211" y="63703"/>
                </a:lnTo>
                <a:lnTo>
                  <a:pt x="1704212" y="83578"/>
                </a:lnTo>
                <a:lnTo>
                  <a:pt x="1716214" y="103377"/>
                </a:lnTo>
                <a:lnTo>
                  <a:pt x="1728216" y="121932"/>
                </a:lnTo>
                <a:lnTo>
                  <a:pt x="1740217" y="138148"/>
                </a:lnTo>
                <a:lnTo>
                  <a:pt x="1752218" y="151069"/>
                </a:lnTo>
                <a:lnTo>
                  <a:pt x="1764220" y="159933"/>
                </a:lnTo>
                <a:lnTo>
                  <a:pt x="1776221" y="164216"/>
                </a:lnTo>
                <a:lnTo>
                  <a:pt x="1788223" y="163667"/>
                </a:lnTo>
                <a:lnTo>
                  <a:pt x="1800225" y="158317"/>
                </a:lnTo>
                <a:lnTo>
                  <a:pt x="1812226" y="148482"/>
                </a:lnTo>
                <a:lnTo>
                  <a:pt x="1824228" y="134743"/>
                </a:lnTo>
                <a:lnTo>
                  <a:pt x="1836229" y="117909"/>
                </a:lnTo>
                <a:lnTo>
                  <a:pt x="1848231" y="98974"/>
                </a:lnTo>
                <a:lnTo>
                  <a:pt x="1860232" y="79055"/>
                </a:lnTo>
                <a:lnTo>
                  <a:pt x="1872233" y="59326"/>
                </a:lnTo>
                <a:lnTo>
                  <a:pt x="1884235" y="40951"/>
                </a:lnTo>
                <a:lnTo>
                  <a:pt x="1896237" y="25015"/>
                </a:lnTo>
                <a:lnTo>
                  <a:pt x="1908238" y="12457"/>
                </a:lnTo>
                <a:lnTo>
                  <a:pt x="1920239" y="4017"/>
                </a:lnTo>
              </a:path>
            </a:pathLst>
          </a:custGeom>
          <a:noFill/>
          <a:ln w="11430">
            <a:solidFill>
              <a:srgbClr val="E88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178807" y="1444752"/>
            <a:ext cx="292608" cy="1280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700" b="0" i="0">
                <a:solidFill>
                  <a:srgbClr val="666666"/>
                </a:solidFill>
                <a:latin typeface="Arial"/>
              </a:rPr>
              <a:t>⋮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17136" y="1719072"/>
            <a:ext cx="1920240" cy="1005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560" b="0" i="1">
                <a:solidFill>
                  <a:srgbClr val="666666"/>
                </a:solidFill>
                <a:latin typeface="Arial"/>
              </a:rPr>
              <a:t>learned frequencies span minutes → days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6638544" y="1197864"/>
            <a:ext cx="164592" cy="0"/>
          </a:xfrm>
          <a:prstGeom prst="line">
            <a:avLst/>
          </a:prstGeom>
          <a:ln w="11430">
            <a:solidFill>
              <a:srgbClr val="1A1A1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6821424" y="704088"/>
            <a:ext cx="182880" cy="98755"/>
          </a:xfrm>
          <a:prstGeom prst="rect">
            <a:avLst/>
          </a:prstGeom>
          <a:solidFill>
            <a:srgbClr val="FCF2EB"/>
          </a:solidFill>
          <a:ln w="508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6821424" y="802843"/>
            <a:ext cx="182880" cy="98755"/>
          </a:xfrm>
          <a:prstGeom prst="rect">
            <a:avLst/>
          </a:prstGeom>
          <a:solidFill>
            <a:srgbClr val="F0B284"/>
          </a:solidFill>
          <a:ln w="508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6821424" y="901598"/>
            <a:ext cx="182880" cy="98755"/>
          </a:xfrm>
          <a:prstGeom prst="rect">
            <a:avLst/>
          </a:prstGeom>
          <a:solidFill>
            <a:srgbClr val="F8DCC7"/>
          </a:solidFill>
          <a:ln w="508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6821424" y="1000353"/>
            <a:ext cx="182880" cy="98755"/>
          </a:xfrm>
          <a:prstGeom prst="rect">
            <a:avLst/>
          </a:prstGeom>
          <a:solidFill>
            <a:srgbClr val="EB9557"/>
          </a:solidFill>
          <a:ln w="508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821424" y="1099108"/>
            <a:ext cx="182880" cy="98755"/>
          </a:xfrm>
          <a:prstGeom prst="rect">
            <a:avLst/>
          </a:prstGeom>
          <a:solidFill>
            <a:srgbClr val="F4C7A6"/>
          </a:solidFill>
          <a:ln w="508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6821424" y="1197864"/>
            <a:ext cx="182880" cy="98755"/>
          </a:xfrm>
          <a:prstGeom prst="rect">
            <a:avLst/>
          </a:prstGeom>
          <a:solidFill>
            <a:srgbClr val="FAE8DB"/>
          </a:solidFill>
          <a:ln w="508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6821424" y="1296619"/>
            <a:ext cx="182880" cy="98755"/>
          </a:xfrm>
          <a:prstGeom prst="rect">
            <a:avLst/>
          </a:prstGeom>
          <a:solidFill>
            <a:srgbClr val="EEA571"/>
          </a:solidFill>
          <a:ln w="508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6821424" y="1395374"/>
            <a:ext cx="182880" cy="98755"/>
          </a:xfrm>
          <a:prstGeom prst="rect">
            <a:avLst/>
          </a:prstGeom>
          <a:solidFill>
            <a:srgbClr val="F7D4BC"/>
          </a:solidFill>
          <a:ln w="508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6821424" y="1494129"/>
            <a:ext cx="182880" cy="98755"/>
          </a:xfrm>
          <a:prstGeom prst="rect">
            <a:avLst/>
          </a:prstGeom>
          <a:solidFill>
            <a:srgbClr val="E98C49"/>
          </a:solidFill>
          <a:ln w="508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6821424" y="1592884"/>
            <a:ext cx="182880" cy="98755"/>
          </a:xfrm>
          <a:prstGeom prst="rect">
            <a:avLst/>
          </a:prstGeom>
          <a:solidFill>
            <a:srgbClr val="F9E1CF"/>
          </a:solidFill>
          <a:ln w="508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528816" y="1728216"/>
            <a:ext cx="768096" cy="1280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760" b="1" i="1">
                <a:solidFill>
                  <a:srgbClr val="E8833A"/>
                </a:solidFill>
                <a:latin typeface="Arial"/>
              </a:rPr>
              <a:t>p</a:t>
            </a:r>
            <a:r>
              <a:rPr sz="540" b="0" i="0" baseline="-25000">
                <a:solidFill>
                  <a:srgbClr val="E8833A"/>
                </a:solidFill>
                <a:latin typeface="Arial"/>
              </a:rPr>
              <a:t>time</a:t>
            </a:r>
            <a:r>
              <a:rPr sz="760" b="0" i="0">
                <a:solidFill>
                  <a:srgbClr val="E8833A"/>
                </a:solidFill>
                <a:latin typeface="Arial"/>
              </a:rPr>
              <a:t>(</a:t>
            </a:r>
            <a:r>
              <a:rPr sz="760" b="0" i="1">
                <a:solidFill>
                  <a:srgbClr val="E8833A"/>
                </a:solidFill>
                <a:latin typeface="Arial"/>
              </a:rPr>
              <a:t>τ</a:t>
            </a:r>
            <a:r>
              <a:rPr sz="760" b="0" i="0">
                <a:solidFill>
                  <a:srgbClr val="E8833A"/>
                </a:solidFill>
                <a:latin typeface="Arial"/>
              </a:rPr>
              <a:t>)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10896" y="2295144"/>
            <a:ext cx="1700784" cy="2194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1430">
            <a:solidFill>
              <a:srgbClr val="4C72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310896" y="2295144"/>
            <a:ext cx="1700784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850" b="1" i="0">
                <a:solidFill>
                  <a:srgbClr val="4C72B0"/>
                </a:solidFill>
                <a:latin typeface="Arial"/>
              </a:rPr>
              <a:t>(b) Sequence-Index Track</a:t>
            </a:r>
          </a:p>
        </p:txBody>
      </p:sp>
      <p:sp>
        <p:nvSpPr>
          <p:cNvPr id="66" name="Freeform 65"/>
          <p:cNvSpPr/>
          <p:nvPr/>
        </p:nvSpPr>
        <p:spPr>
          <a:xfrm>
            <a:off x="566928" y="2944368"/>
            <a:ext cx="2788920" cy="301752"/>
          </a:xfrm>
          <a:custGeom>
            <a:avLst/>
            <a:gdLst/>
            <a:ahLst/>
            <a:cxnLst/>
            <a:rect l="l" t="t" r="r" b="b"/>
            <a:pathLst>
              <a:path w="2788920" h="301752">
                <a:moveTo>
                  <a:pt x="0" y="137160"/>
                </a:moveTo>
                <a:lnTo>
                  <a:pt x="697229" y="0"/>
                </a:lnTo>
                <a:lnTo>
                  <a:pt x="1394460" y="237744"/>
                </a:lnTo>
                <a:lnTo>
                  <a:pt x="2091690" y="64008"/>
                </a:lnTo>
                <a:lnTo>
                  <a:pt x="2788920" y="301752"/>
                </a:lnTo>
              </a:path>
            </a:pathLst>
          </a:custGeom>
          <a:noFill/>
          <a:ln w="11430">
            <a:solidFill>
              <a:srgbClr val="B4B4B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7" name="Connector 66"/>
          <p:cNvCxnSpPr/>
          <p:nvPr/>
        </p:nvCxnSpPr>
        <p:spPr>
          <a:xfrm flipV="1">
            <a:off x="566928" y="3081528"/>
            <a:ext cx="0" cy="429768"/>
          </a:xfrm>
          <a:prstGeom prst="line">
            <a:avLst/>
          </a:prstGeom>
          <a:ln w="12700">
            <a:solidFill>
              <a:srgbClr val="4C72B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Oval 67"/>
          <p:cNvSpPr/>
          <p:nvPr/>
        </p:nvSpPr>
        <p:spPr>
          <a:xfrm>
            <a:off x="532180" y="3046780"/>
            <a:ext cx="69494" cy="69494"/>
          </a:xfrm>
          <a:prstGeom prst="ellipse">
            <a:avLst/>
          </a:prstGeom>
          <a:solidFill>
            <a:srgbClr val="4C72B0"/>
          </a:solidFill>
          <a:ln w="5080">
            <a:solidFill>
              <a:srgbClr val="4C72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69" name="Connector 68"/>
          <p:cNvCxnSpPr/>
          <p:nvPr/>
        </p:nvCxnSpPr>
        <p:spPr>
          <a:xfrm flipV="1">
            <a:off x="1264157" y="2944368"/>
            <a:ext cx="0" cy="566928"/>
          </a:xfrm>
          <a:prstGeom prst="line">
            <a:avLst/>
          </a:prstGeom>
          <a:ln w="12700">
            <a:solidFill>
              <a:srgbClr val="4C72B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Oval 69"/>
          <p:cNvSpPr/>
          <p:nvPr/>
        </p:nvSpPr>
        <p:spPr>
          <a:xfrm>
            <a:off x="1229410" y="2909620"/>
            <a:ext cx="69494" cy="69494"/>
          </a:xfrm>
          <a:prstGeom prst="ellipse">
            <a:avLst/>
          </a:prstGeom>
          <a:solidFill>
            <a:srgbClr val="4C72B0"/>
          </a:solidFill>
          <a:ln w="5080">
            <a:solidFill>
              <a:srgbClr val="4C72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71" name="Connector 70"/>
          <p:cNvCxnSpPr/>
          <p:nvPr/>
        </p:nvCxnSpPr>
        <p:spPr>
          <a:xfrm flipV="1">
            <a:off x="1961388" y="3182112"/>
            <a:ext cx="0" cy="329184"/>
          </a:xfrm>
          <a:prstGeom prst="line">
            <a:avLst/>
          </a:prstGeom>
          <a:ln w="12700">
            <a:solidFill>
              <a:srgbClr val="4C72B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Oval 71"/>
          <p:cNvSpPr/>
          <p:nvPr/>
        </p:nvSpPr>
        <p:spPr>
          <a:xfrm>
            <a:off x="1926640" y="3147364"/>
            <a:ext cx="69494" cy="69494"/>
          </a:xfrm>
          <a:prstGeom prst="ellipse">
            <a:avLst/>
          </a:prstGeom>
          <a:solidFill>
            <a:srgbClr val="4C72B0"/>
          </a:solidFill>
          <a:ln w="5080">
            <a:solidFill>
              <a:srgbClr val="4C72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73" name="Connector 72"/>
          <p:cNvCxnSpPr/>
          <p:nvPr/>
        </p:nvCxnSpPr>
        <p:spPr>
          <a:xfrm flipV="1">
            <a:off x="2658618" y="3008376"/>
            <a:ext cx="0" cy="502920"/>
          </a:xfrm>
          <a:prstGeom prst="line">
            <a:avLst/>
          </a:prstGeom>
          <a:ln w="12700">
            <a:solidFill>
              <a:srgbClr val="4C72B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Oval 73"/>
          <p:cNvSpPr/>
          <p:nvPr/>
        </p:nvSpPr>
        <p:spPr>
          <a:xfrm>
            <a:off x="2623870" y="2973628"/>
            <a:ext cx="69494" cy="69494"/>
          </a:xfrm>
          <a:prstGeom prst="ellipse">
            <a:avLst/>
          </a:prstGeom>
          <a:solidFill>
            <a:srgbClr val="4C72B0"/>
          </a:solidFill>
          <a:ln w="5080">
            <a:solidFill>
              <a:srgbClr val="4C72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75" name="Connector 74"/>
          <p:cNvCxnSpPr/>
          <p:nvPr/>
        </p:nvCxnSpPr>
        <p:spPr>
          <a:xfrm flipV="1">
            <a:off x="3355848" y="3246120"/>
            <a:ext cx="0" cy="265176"/>
          </a:xfrm>
          <a:prstGeom prst="line">
            <a:avLst/>
          </a:prstGeom>
          <a:ln w="12700">
            <a:solidFill>
              <a:srgbClr val="4C72B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Oval 75"/>
          <p:cNvSpPr/>
          <p:nvPr/>
        </p:nvSpPr>
        <p:spPr>
          <a:xfrm>
            <a:off x="3321100" y="3211372"/>
            <a:ext cx="69494" cy="69494"/>
          </a:xfrm>
          <a:prstGeom prst="ellipse">
            <a:avLst/>
          </a:prstGeom>
          <a:solidFill>
            <a:srgbClr val="4C72B0"/>
          </a:solidFill>
          <a:ln w="5080">
            <a:solidFill>
              <a:srgbClr val="4C72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77" name="Connector 76"/>
          <p:cNvCxnSpPr/>
          <p:nvPr/>
        </p:nvCxnSpPr>
        <p:spPr>
          <a:xfrm>
            <a:off x="512064" y="3511296"/>
            <a:ext cx="3118104" cy="0"/>
          </a:xfrm>
          <a:prstGeom prst="line">
            <a:avLst/>
          </a:prstGeom>
          <a:ln w="7620">
            <a:solidFill>
              <a:srgbClr val="1A1A1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566928" y="3511296"/>
            <a:ext cx="0" cy="45719"/>
          </a:xfrm>
          <a:prstGeom prst="line">
            <a:avLst/>
          </a:prstGeom>
          <a:ln w="7620">
            <a:solidFill>
              <a:srgbClr val="1A1A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420623" y="3566160"/>
            <a:ext cx="292608" cy="1097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620" b="0" i="0">
                <a:solidFill>
                  <a:srgbClr val="1A1A1A"/>
                </a:solidFill>
                <a:latin typeface="Arial"/>
              </a:rPr>
              <a:t>0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1264157" y="3511296"/>
            <a:ext cx="0" cy="45719"/>
          </a:xfrm>
          <a:prstGeom prst="line">
            <a:avLst/>
          </a:prstGeom>
          <a:ln w="7620">
            <a:solidFill>
              <a:srgbClr val="1A1A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1117854" y="3566160"/>
            <a:ext cx="292608" cy="1097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620" b="0" i="0">
                <a:solidFill>
                  <a:srgbClr val="1A1A1A"/>
                </a:solidFill>
                <a:latin typeface="Arial"/>
              </a:rPr>
              <a:t>1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1961388" y="3511296"/>
            <a:ext cx="0" cy="45719"/>
          </a:xfrm>
          <a:prstGeom prst="line">
            <a:avLst/>
          </a:prstGeom>
          <a:ln w="7620">
            <a:solidFill>
              <a:srgbClr val="1A1A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1815084" y="3566160"/>
            <a:ext cx="292608" cy="1097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620" b="0" i="0">
                <a:solidFill>
                  <a:srgbClr val="1A1A1A"/>
                </a:solidFill>
                <a:latin typeface="Arial"/>
              </a:rPr>
              <a:t>2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2658618" y="3511296"/>
            <a:ext cx="0" cy="45719"/>
          </a:xfrm>
          <a:prstGeom prst="line">
            <a:avLst/>
          </a:prstGeom>
          <a:ln w="7620">
            <a:solidFill>
              <a:srgbClr val="1A1A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2512313" y="3566160"/>
            <a:ext cx="292608" cy="1097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620" b="0" i="0">
                <a:solidFill>
                  <a:srgbClr val="1A1A1A"/>
                </a:solidFill>
                <a:latin typeface="Arial"/>
              </a:rPr>
              <a:t>3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3355848" y="3511296"/>
            <a:ext cx="0" cy="45719"/>
          </a:xfrm>
          <a:prstGeom prst="line">
            <a:avLst/>
          </a:prstGeom>
          <a:ln w="7620">
            <a:solidFill>
              <a:srgbClr val="1A1A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3209544" y="3566160"/>
            <a:ext cx="292608" cy="1097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620" b="0" i="0">
                <a:solidFill>
                  <a:srgbClr val="1A1A1A"/>
                </a:solidFill>
                <a:latin typeface="Arial"/>
              </a:rPr>
              <a:t>4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666744" y="3447288"/>
            <a:ext cx="274320" cy="1280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750" b="0" i="1">
                <a:solidFill>
                  <a:srgbClr val="1A1A1A"/>
                </a:solidFill>
                <a:latin typeface="Arial"/>
              </a:rPr>
              <a:t>k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66928" y="3749039"/>
            <a:ext cx="2788920" cy="1188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620" b="1" i="0">
                <a:solidFill>
                  <a:srgbClr val="4C72B0"/>
                </a:solidFill>
                <a:latin typeface="Arial"/>
              </a:rPr>
              <a:t>identical spacing</a:t>
            </a:r>
            <a:r>
              <a:rPr sz="620" b="0" i="0">
                <a:solidFill>
                  <a:srgbClr val="666666"/>
                </a:solidFill>
                <a:latin typeface="Arial"/>
              </a:rPr>
              <a:t>  — elapsed time discarded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3639312" y="3191256"/>
            <a:ext cx="438912" cy="0"/>
          </a:xfrm>
          <a:prstGeom prst="line">
            <a:avLst/>
          </a:prstGeom>
          <a:ln w="12700">
            <a:solidFill>
              <a:srgbClr val="1A1A1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Rectangle 90"/>
          <p:cNvSpPr/>
          <p:nvPr/>
        </p:nvSpPr>
        <p:spPr>
          <a:xfrm>
            <a:off x="4133087" y="2468880"/>
            <a:ext cx="2487168" cy="1444752"/>
          </a:xfrm>
          <a:prstGeom prst="rect">
            <a:avLst/>
          </a:prstGeom>
          <a:solidFill>
            <a:srgbClr val="DDE6F3"/>
          </a:solidFill>
          <a:ln w="12700">
            <a:solidFill>
              <a:srgbClr val="4C72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4224527" y="2542032"/>
            <a:ext cx="1700784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850" b="1" i="0">
                <a:solidFill>
                  <a:srgbClr val="1A1A1A"/>
                </a:solidFill>
                <a:latin typeface="Arial"/>
              </a:rPr>
              <a:t>Fixed Sinusoidal Encoding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5980176" y="2546604"/>
            <a:ext cx="548640" cy="137160"/>
          </a:xfrm>
          <a:prstGeom prst="roundRect">
            <a:avLst>
              <a:gd name="adj" fmla="val 40000"/>
            </a:avLst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5980176" y="2546604"/>
            <a:ext cx="548640" cy="1371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540" b="1" i="0">
                <a:solidFill>
                  <a:srgbClr val="FFFFFF"/>
                </a:solidFill>
                <a:latin typeface="Arial"/>
              </a:rPr>
              <a:t>frozen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187951" y="2743200"/>
            <a:ext cx="2377440" cy="1371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660" b="1" i="1">
                <a:solidFill>
                  <a:srgbClr val="1A1A1A"/>
                </a:solidFill>
                <a:latin typeface="Arial"/>
              </a:rPr>
              <a:t>p</a:t>
            </a:r>
            <a:r>
              <a:rPr sz="520" b="0" i="0" baseline="-25000">
                <a:solidFill>
                  <a:srgbClr val="1A1A1A"/>
                </a:solidFill>
                <a:latin typeface="Arial"/>
              </a:rPr>
              <a:t>idx</a:t>
            </a:r>
            <a:r>
              <a:rPr sz="660" b="0" i="0">
                <a:solidFill>
                  <a:srgbClr val="1A1A1A"/>
                </a:solidFill>
                <a:latin typeface="Arial"/>
              </a:rPr>
              <a:t>(</a:t>
            </a:r>
            <a:r>
              <a:rPr sz="660" b="0" i="1">
                <a:solidFill>
                  <a:srgbClr val="1A1A1A"/>
                </a:solidFill>
                <a:latin typeface="Arial"/>
              </a:rPr>
              <a:t>k</a:t>
            </a:r>
            <a:r>
              <a:rPr sz="660" b="0" i="0">
                <a:solidFill>
                  <a:srgbClr val="1A1A1A"/>
                </a:solidFill>
                <a:latin typeface="Arial"/>
              </a:rPr>
              <a:t>) = [sin(</a:t>
            </a:r>
            <a:r>
              <a:rPr sz="660" b="0" i="1">
                <a:solidFill>
                  <a:srgbClr val="1A1A1A"/>
                </a:solidFill>
                <a:latin typeface="Arial"/>
              </a:rPr>
              <a:t>k</a:t>
            </a:r>
            <a:r>
              <a:rPr sz="660" b="0" i="0">
                <a:solidFill>
                  <a:srgbClr val="1A1A1A"/>
                </a:solidFill>
                <a:latin typeface="Arial"/>
              </a:rPr>
              <a:t> / 10000</a:t>
            </a:r>
            <a:r>
              <a:rPr sz="480" b="0" i="1" baseline="30000">
                <a:solidFill>
                  <a:srgbClr val="1A1A1A"/>
                </a:solidFill>
                <a:latin typeface="Arial"/>
              </a:rPr>
              <a:t>2i/d</a:t>
            </a:r>
            <a:r>
              <a:rPr sz="660" b="0" i="0">
                <a:solidFill>
                  <a:srgbClr val="1A1A1A"/>
                </a:solidFill>
                <a:latin typeface="Arial"/>
              </a:rPr>
              <a:t>), cos(</a:t>
            </a:r>
            <a:r>
              <a:rPr sz="660" b="0" i="1">
                <a:solidFill>
                  <a:srgbClr val="1A1A1A"/>
                </a:solidFill>
                <a:latin typeface="Arial"/>
              </a:rPr>
              <a:t>k</a:t>
            </a:r>
            <a:r>
              <a:rPr sz="660" b="0" i="0">
                <a:solidFill>
                  <a:srgbClr val="1A1A1A"/>
                </a:solidFill>
                <a:latin typeface="Arial"/>
              </a:rPr>
              <a:t> / 10000</a:t>
            </a:r>
            <a:r>
              <a:rPr sz="480" b="0" i="1" baseline="30000">
                <a:solidFill>
                  <a:srgbClr val="1A1A1A"/>
                </a:solidFill>
                <a:latin typeface="Arial"/>
              </a:rPr>
              <a:t>2i/d</a:t>
            </a:r>
            <a:r>
              <a:rPr sz="660" b="0" i="0">
                <a:solidFill>
                  <a:srgbClr val="1A1A1A"/>
                </a:solidFill>
                <a:latin typeface="Arial"/>
              </a:rPr>
              <a:t>)]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178807" y="2971800"/>
            <a:ext cx="292608" cy="1280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590" b="0" i="1">
                <a:solidFill>
                  <a:srgbClr val="4C72B0"/>
                </a:solidFill>
                <a:latin typeface="Arial"/>
              </a:rPr>
              <a:t>i = 1</a:t>
            </a:r>
          </a:p>
        </p:txBody>
      </p:sp>
      <p:sp>
        <p:nvSpPr>
          <p:cNvPr id="97" name="Freeform 96"/>
          <p:cNvSpPr/>
          <p:nvPr/>
        </p:nvSpPr>
        <p:spPr>
          <a:xfrm>
            <a:off x="4517136" y="2953512"/>
            <a:ext cx="1920239" cy="164591"/>
          </a:xfrm>
          <a:custGeom>
            <a:avLst/>
            <a:gdLst/>
            <a:ahLst/>
            <a:cxnLst/>
            <a:rect l="l" t="t" r="r" b="b"/>
            <a:pathLst>
              <a:path w="1920239" h="164591">
                <a:moveTo>
                  <a:pt x="0" y="82296"/>
                </a:moveTo>
                <a:lnTo>
                  <a:pt x="12001" y="79065"/>
                </a:lnTo>
                <a:lnTo>
                  <a:pt x="24003" y="75839"/>
                </a:lnTo>
                <a:lnTo>
                  <a:pt x="36004" y="72623"/>
                </a:lnTo>
                <a:lnTo>
                  <a:pt x="48006" y="69422"/>
                </a:lnTo>
                <a:lnTo>
                  <a:pt x="60007" y="66240"/>
                </a:lnTo>
                <a:lnTo>
                  <a:pt x="72009" y="63084"/>
                </a:lnTo>
                <a:lnTo>
                  <a:pt x="84010" y="59957"/>
                </a:lnTo>
                <a:lnTo>
                  <a:pt x="96012" y="56865"/>
                </a:lnTo>
                <a:lnTo>
                  <a:pt x="108013" y="53811"/>
                </a:lnTo>
                <a:lnTo>
                  <a:pt x="120014" y="50802"/>
                </a:lnTo>
                <a:lnTo>
                  <a:pt x="132016" y="47841"/>
                </a:lnTo>
                <a:lnTo>
                  <a:pt x="144017" y="44934"/>
                </a:lnTo>
                <a:lnTo>
                  <a:pt x="156019" y="42084"/>
                </a:lnTo>
                <a:lnTo>
                  <a:pt x="168020" y="39296"/>
                </a:lnTo>
                <a:lnTo>
                  <a:pt x="180022" y="36574"/>
                </a:lnTo>
                <a:lnTo>
                  <a:pt x="192023" y="33923"/>
                </a:lnTo>
                <a:lnTo>
                  <a:pt x="204025" y="31347"/>
                </a:lnTo>
                <a:lnTo>
                  <a:pt x="216027" y="28849"/>
                </a:lnTo>
                <a:lnTo>
                  <a:pt x="228028" y="26433"/>
                </a:lnTo>
                <a:lnTo>
                  <a:pt x="240030" y="24103"/>
                </a:lnTo>
                <a:lnTo>
                  <a:pt x="252031" y="21864"/>
                </a:lnTo>
                <a:lnTo>
                  <a:pt x="264033" y="19717"/>
                </a:lnTo>
                <a:lnTo>
                  <a:pt x="276034" y="17667"/>
                </a:lnTo>
                <a:lnTo>
                  <a:pt x="288036" y="15717"/>
                </a:lnTo>
                <a:lnTo>
                  <a:pt x="300037" y="13869"/>
                </a:lnTo>
                <a:lnTo>
                  <a:pt x="312039" y="12127"/>
                </a:lnTo>
                <a:lnTo>
                  <a:pt x="324040" y="10493"/>
                </a:lnTo>
                <a:lnTo>
                  <a:pt x="336041" y="8969"/>
                </a:lnTo>
                <a:lnTo>
                  <a:pt x="348043" y="7559"/>
                </a:lnTo>
                <a:lnTo>
                  <a:pt x="360044" y="6264"/>
                </a:lnTo>
                <a:lnTo>
                  <a:pt x="372046" y="5086"/>
                </a:lnTo>
                <a:lnTo>
                  <a:pt x="384047" y="4027"/>
                </a:lnTo>
                <a:lnTo>
                  <a:pt x="396049" y="3089"/>
                </a:lnTo>
                <a:lnTo>
                  <a:pt x="408051" y="2273"/>
                </a:lnTo>
                <a:lnTo>
                  <a:pt x="420052" y="1581"/>
                </a:lnTo>
                <a:lnTo>
                  <a:pt x="432054" y="1013"/>
                </a:lnTo>
                <a:lnTo>
                  <a:pt x="444055" y="570"/>
                </a:lnTo>
                <a:lnTo>
                  <a:pt x="456057" y="253"/>
                </a:lnTo>
                <a:lnTo>
                  <a:pt x="468058" y="63"/>
                </a:lnTo>
                <a:lnTo>
                  <a:pt x="480060" y="0"/>
                </a:lnTo>
                <a:lnTo>
                  <a:pt x="492061" y="63"/>
                </a:lnTo>
                <a:lnTo>
                  <a:pt x="504062" y="253"/>
                </a:lnTo>
                <a:lnTo>
                  <a:pt x="516064" y="570"/>
                </a:lnTo>
                <a:lnTo>
                  <a:pt x="528066" y="1013"/>
                </a:lnTo>
                <a:lnTo>
                  <a:pt x="540067" y="1581"/>
                </a:lnTo>
                <a:lnTo>
                  <a:pt x="552068" y="2273"/>
                </a:lnTo>
                <a:lnTo>
                  <a:pt x="564070" y="3089"/>
                </a:lnTo>
                <a:lnTo>
                  <a:pt x="576071" y="4027"/>
                </a:lnTo>
                <a:lnTo>
                  <a:pt x="588073" y="5086"/>
                </a:lnTo>
                <a:lnTo>
                  <a:pt x="600075" y="6264"/>
                </a:lnTo>
                <a:lnTo>
                  <a:pt x="612076" y="7559"/>
                </a:lnTo>
                <a:lnTo>
                  <a:pt x="624078" y="8969"/>
                </a:lnTo>
                <a:lnTo>
                  <a:pt x="636079" y="10493"/>
                </a:lnTo>
                <a:lnTo>
                  <a:pt x="648081" y="12127"/>
                </a:lnTo>
                <a:lnTo>
                  <a:pt x="660082" y="13869"/>
                </a:lnTo>
                <a:lnTo>
                  <a:pt x="672084" y="15717"/>
                </a:lnTo>
                <a:lnTo>
                  <a:pt x="684085" y="17667"/>
                </a:lnTo>
                <a:lnTo>
                  <a:pt x="696087" y="19717"/>
                </a:lnTo>
                <a:lnTo>
                  <a:pt x="708088" y="21864"/>
                </a:lnTo>
                <a:lnTo>
                  <a:pt x="720089" y="24103"/>
                </a:lnTo>
                <a:lnTo>
                  <a:pt x="732091" y="26433"/>
                </a:lnTo>
                <a:lnTo>
                  <a:pt x="744092" y="28849"/>
                </a:lnTo>
                <a:lnTo>
                  <a:pt x="756094" y="31347"/>
                </a:lnTo>
                <a:lnTo>
                  <a:pt x="768095" y="33923"/>
                </a:lnTo>
                <a:lnTo>
                  <a:pt x="780097" y="36574"/>
                </a:lnTo>
                <a:lnTo>
                  <a:pt x="792098" y="39296"/>
                </a:lnTo>
                <a:lnTo>
                  <a:pt x="804100" y="42084"/>
                </a:lnTo>
                <a:lnTo>
                  <a:pt x="816102" y="44934"/>
                </a:lnTo>
                <a:lnTo>
                  <a:pt x="828103" y="47841"/>
                </a:lnTo>
                <a:lnTo>
                  <a:pt x="840105" y="50802"/>
                </a:lnTo>
                <a:lnTo>
                  <a:pt x="852106" y="53811"/>
                </a:lnTo>
                <a:lnTo>
                  <a:pt x="864108" y="56865"/>
                </a:lnTo>
                <a:lnTo>
                  <a:pt x="876109" y="59957"/>
                </a:lnTo>
                <a:lnTo>
                  <a:pt x="888111" y="63084"/>
                </a:lnTo>
                <a:lnTo>
                  <a:pt x="900112" y="66240"/>
                </a:lnTo>
                <a:lnTo>
                  <a:pt x="912113" y="69422"/>
                </a:lnTo>
                <a:lnTo>
                  <a:pt x="924115" y="72623"/>
                </a:lnTo>
                <a:lnTo>
                  <a:pt x="936116" y="75839"/>
                </a:lnTo>
                <a:lnTo>
                  <a:pt x="948118" y="79065"/>
                </a:lnTo>
                <a:lnTo>
                  <a:pt x="960119" y="82296"/>
                </a:lnTo>
                <a:lnTo>
                  <a:pt x="972121" y="85526"/>
                </a:lnTo>
                <a:lnTo>
                  <a:pt x="984122" y="88752"/>
                </a:lnTo>
                <a:lnTo>
                  <a:pt x="996124" y="91968"/>
                </a:lnTo>
                <a:lnTo>
                  <a:pt x="1008126" y="95169"/>
                </a:lnTo>
                <a:lnTo>
                  <a:pt x="1020127" y="98351"/>
                </a:lnTo>
                <a:lnTo>
                  <a:pt x="1032129" y="101507"/>
                </a:lnTo>
                <a:lnTo>
                  <a:pt x="1044130" y="104634"/>
                </a:lnTo>
                <a:lnTo>
                  <a:pt x="1056132" y="107726"/>
                </a:lnTo>
                <a:lnTo>
                  <a:pt x="1068133" y="110780"/>
                </a:lnTo>
                <a:lnTo>
                  <a:pt x="1080135" y="113789"/>
                </a:lnTo>
                <a:lnTo>
                  <a:pt x="1092136" y="116750"/>
                </a:lnTo>
                <a:lnTo>
                  <a:pt x="1104137" y="119657"/>
                </a:lnTo>
                <a:lnTo>
                  <a:pt x="1116139" y="122507"/>
                </a:lnTo>
                <a:lnTo>
                  <a:pt x="1128141" y="125295"/>
                </a:lnTo>
                <a:lnTo>
                  <a:pt x="1140142" y="128017"/>
                </a:lnTo>
                <a:lnTo>
                  <a:pt x="1152143" y="130668"/>
                </a:lnTo>
                <a:lnTo>
                  <a:pt x="1164145" y="133244"/>
                </a:lnTo>
                <a:lnTo>
                  <a:pt x="1176146" y="135742"/>
                </a:lnTo>
                <a:lnTo>
                  <a:pt x="1188148" y="138158"/>
                </a:lnTo>
                <a:lnTo>
                  <a:pt x="1200150" y="140488"/>
                </a:lnTo>
                <a:lnTo>
                  <a:pt x="1212151" y="142727"/>
                </a:lnTo>
                <a:lnTo>
                  <a:pt x="1224153" y="144874"/>
                </a:lnTo>
                <a:lnTo>
                  <a:pt x="1236154" y="146924"/>
                </a:lnTo>
                <a:lnTo>
                  <a:pt x="1248156" y="148874"/>
                </a:lnTo>
                <a:lnTo>
                  <a:pt x="1260157" y="150722"/>
                </a:lnTo>
                <a:lnTo>
                  <a:pt x="1272159" y="152464"/>
                </a:lnTo>
                <a:lnTo>
                  <a:pt x="1284160" y="154098"/>
                </a:lnTo>
                <a:lnTo>
                  <a:pt x="1296162" y="155622"/>
                </a:lnTo>
                <a:lnTo>
                  <a:pt x="1308163" y="157032"/>
                </a:lnTo>
                <a:lnTo>
                  <a:pt x="1320164" y="158327"/>
                </a:lnTo>
                <a:lnTo>
                  <a:pt x="1332166" y="159505"/>
                </a:lnTo>
                <a:lnTo>
                  <a:pt x="1344167" y="160564"/>
                </a:lnTo>
                <a:lnTo>
                  <a:pt x="1356169" y="161502"/>
                </a:lnTo>
                <a:lnTo>
                  <a:pt x="1368170" y="162318"/>
                </a:lnTo>
                <a:lnTo>
                  <a:pt x="1380172" y="163010"/>
                </a:lnTo>
                <a:lnTo>
                  <a:pt x="1392173" y="163578"/>
                </a:lnTo>
                <a:lnTo>
                  <a:pt x="1404175" y="164021"/>
                </a:lnTo>
                <a:lnTo>
                  <a:pt x="1416177" y="164338"/>
                </a:lnTo>
                <a:lnTo>
                  <a:pt x="1428178" y="164528"/>
                </a:lnTo>
                <a:lnTo>
                  <a:pt x="1440180" y="164591"/>
                </a:lnTo>
                <a:lnTo>
                  <a:pt x="1452181" y="164528"/>
                </a:lnTo>
                <a:lnTo>
                  <a:pt x="1464183" y="164338"/>
                </a:lnTo>
                <a:lnTo>
                  <a:pt x="1476184" y="164021"/>
                </a:lnTo>
                <a:lnTo>
                  <a:pt x="1488186" y="163578"/>
                </a:lnTo>
                <a:lnTo>
                  <a:pt x="1500187" y="163010"/>
                </a:lnTo>
                <a:lnTo>
                  <a:pt x="1512189" y="162318"/>
                </a:lnTo>
                <a:lnTo>
                  <a:pt x="1524190" y="161502"/>
                </a:lnTo>
                <a:lnTo>
                  <a:pt x="1536191" y="160564"/>
                </a:lnTo>
                <a:lnTo>
                  <a:pt x="1548193" y="159505"/>
                </a:lnTo>
                <a:lnTo>
                  <a:pt x="1560194" y="158327"/>
                </a:lnTo>
                <a:lnTo>
                  <a:pt x="1572196" y="157032"/>
                </a:lnTo>
                <a:lnTo>
                  <a:pt x="1584197" y="155622"/>
                </a:lnTo>
                <a:lnTo>
                  <a:pt x="1596199" y="154098"/>
                </a:lnTo>
                <a:lnTo>
                  <a:pt x="1608201" y="152464"/>
                </a:lnTo>
                <a:lnTo>
                  <a:pt x="1620202" y="150722"/>
                </a:lnTo>
                <a:lnTo>
                  <a:pt x="1632204" y="148874"/>
                </a:lnTo>
                <a:lnTo>
                  <a:pt x="1644205" y="146924"/>
                </a:lnTo>
                <a:lnTo>
                  <a:pt x="1656207" y="144874"/>
                </a:lnTo>
                <a:lnTo>
                  <a:pt x="1668208" y="142727"/>
                </a:lnTo>
                <a:lnTo>
                  <a:pt x="1680210" y="140488"/>
                </a:lnTo>
                <a:lnTo>
                  <a:pt x="1692211" y="138158"/>
                </a:lnTo>
                <a:lnTo>
                  <a:pt x="1704212" y="135742"/>
                </a:lnTo>
                <a:lnTo>
                  <a:pt x="1716214" y="133244"/>
                </a:lnTo>
                <a:lnTo>
                  <a:pt x="1728216" y="130668"/>
                </a:lnTo>
                <a:lnTo>
                  <a:pt x="1740217" y="128017"/>
                </a:lnTo>
                <a:lnTo>
                  <a:pt x="1752218" y="125295"/>
                </a:lnTo>
                <a:lnTo>
                  <a:pt x="1764220" y="122507"/>
                </a:lnTo>
                <a:lnTo>
                  <a:pt x="1776221" y="119657"/>
                </a:lnTo>
                <a:lnTo>
                  <a:pt x="1788223" y="116750"/>
                </a:lnTo>
                <a:lnTo>
                  <a:pt x="1800225" y="113789"/>
                </a:lnTo>
                <a:lnTo>
                  <a:pt x="1812226" y="110780"/>
                </a:lnTo>
                <a:lnTo>
                  <a:pt x="1824228" y="107726"/>
                </a:lnTo>
                <a:lnTo>
                  <a:pt x="1836229" y="104634"/>
                </a:lnTo>
                <a:lnTo>
                  <a:pt x="1848231" y="101507"/>
                </a:lnTo>
                <a:lnTo>
                  <a:pt x="1860232" y="98351"/>
                </a:lnTo>
                <a:lnTo>
                  <a:pt x="1872233" y="95169"/>
                </a:lnTo>
                <a:lnTo>
                  <a:pt x="1884235" y="91968"/>
                </a:lnTo>
                <a:lnTo>
                  <a:pt x="1896237" y="88752"/>
                </a:lnTo>
                <a:lnTo>
                  <a:pt x="1908238" y="85526"/>
                </a:lnTo>
                <a:lnTo>
                  <a:pt x="1920239" y="82296"/>
                </a:lnTo>
              </a:path>
            </a:pathLst>
          </a:custGeom>
          <a:noFill/>
          <a:ln w="11430">
            <a:solidFill>
              <a:srgbClr val="4C72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4178807" y="3227832"/>
            <a:ext cx="292608" cy="1280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590" b="0" i="1">
                <a:solidFill>
                  <a:srgbClr val="4C72B0"/>
                </a:solidFill>
                <a:latin typeface="Arial"/>
              </a:rPr>
              <a:t>i = 2</a:t>
            </a:r>
          </a:p>
        </p:txBody>
      </p:sp>
      <p:sp>
        <p:nvSpPr>
          <p:cNvPr id="99" name="Freeform 98"/>
          <p:cNvSpPr/>
          <p:nvPr/>
        </p:nvSpPr>
        <p:spPr>
          <a:xfrm>
            <a:off x="4517136" y="3209546"/>
            <a:ext cx="1920239" cy="164579"/>
          </a:xfrm>
          <a:custGeom>
            <a:avLst/>
            <a:gdLst/>
            <a:ahLst/>
            <a:cxnLst/>
            <a:rect l="l" t="t" r="r" b="b"/>
            <a:pathLst>
              <a:path w="1920239" h="164579">
                <a:moveTo>
                  <a:pt x="0" y="82294"/>
                </a:moveTo>
                <a:lnTo>
                  <a:pt x="12001" y="73906"/>
                </a:lnTo>
                <a:lnTo>
                  <a:pt x="24003" y="65605"/>
                </a:lnTo>
                <a:lnTo>
                  <a:pt x="36004" y="57478"/>
                </a:lnTo>
                <a:lnTo>
                  <a:pt x="48006" y="49610"/>
                </a:lnTo>
                <a:lnTo>
                  <a:pt x="60007" y="42082"/>
                </a:lnTo>
                <a:lnTo>
                  <a:pt x="72009" y="34973"/>
                </a:lnTo>
                <a:lnTo>
                  <a:pt x="84010" y="28357"/>
                </a:lnTo>
                <a:lnTo>
                  <a:pt x="96012" y="22302"/>
                </a:lnTo>
                <a:lnTo>
                  <a:pt x="108013" y="16873"/>
                </a:lnTo>
                <a:lnTo>
                  <a:pt x="120014" y="12125"/>
                </a:lnTo>
                <a:lnTo>
                  <a:pt x="132016" y="8107"/>
                </a:lnTo>
                <a:lnTo>
                  <a:pt x="144017" y="4863"/>
                </a:lnTo>
                <a:lnTo>
                  <a:pt x="156019" y="2425"/>
                </a:lnTo>
                <a:lnTo>
                  <a:pt x="168020" y="819"/>
                </a:lnTo>
                <a:lnTo>
                  <a:pt x="180022" y="61"/>
                </a:lnTo>
                <a:lnTo>
                  <a:pt x="192023" y="160"/>
                </a:lnTo>
                <a:lnTo>
                  <a:pt x="204025" y="1114"/>
                </a:lnTo>
                <a:lnTo>
                  <a:pt x="216027" y="2914"/>
                </a:lnTo>
                <a:lnTo>
                  <a:pt x="228028" y="5541"/>
                </a:lnTo>
                <a:lnTo>
                  <a:pt x="240030" y="8967"/>
                </a:lnTo>
                <a:lnTo>
                  <a:pt x="252031" y="13157"/>
                </a:lnTo>
                <a:lnTo>
                  <a:pt x="264033" y="18067"/>
                </a:lnTo>
                <a:lnTo>
                  <a:pt x="276034" y="23646"/>
                </a:lnTo>
                <a:lnTo>
                  <a:pt x="288036" y="29836"/>
                </a:lnTo>
                <a:lnTo>
                  <a:pt x="300037" y="36572"/>
                </a:lnTo>
                <a:lnTo>
                  <a:pt x="312039" y="43785"/>
                </a:lnTo>
                <a:lnTo>
                  <a:pt x="324040" y="51398"/>
                </a:lnTo>
                <a:lnTo>
                  <a:pt x="336041" y="59334"/>
                </a:lnTo>
                <a:lnTo>
                  <a:pt x="348043" y="67508"/>
                </a:lnTo>
                <a:lnTo>
                  <a:pt x="360044" y="75837"/>
                </a:lnTo>
                <a:lnTo>
                  <a:pt x="372046" y="84232"/>
                </a:lnTo>
                <a:lnTo>
                  <a:pt x="384047" y="92608"/>
                </a:lnTo>
                <a:lnTo>
                  <a:pt x="396049" y="100876"/>
                </a:lnTo>
                <a:lnTo>
                  <a:pt x="408051" y="108951"/>
                </a:lnTo>
                <a:lnTo>
                  <a:pt x="420052" y="116748"/>
                </a:lnTo>
                <a:lnTo>
                  <a:pt x="432054" y="124186"/>
                </a:lnTo>
                <a:lnTo>
                  <a:pt x="444055" y="131187"/>
                </a:lnTo>
                <a:lnTo>
                  <a:pt x="456057" y="137680"/>
                </a:lnTo>
                <a:lnTo>
                  <a:pt x="468058" y="143595"/>
                </a:lnTo>
                <a:lnTo>
                  <a:pt x="480060" y="148872"/>
                </a:lnTo>
                <a:lnTo>
                  <a:pt x="492061" y="153456"/>
                </a:lnTo>
                <a:lnTo>
                  <a:pt x="504062" y="157298"/>
                </a:lnTo>
                <a:lnTo>
                  <a:pt x="516064" y="160360"/>
                </a:lnTo>
                <a:lnTo>
                  <a:pt x="528066" y="162608"/>
                </a:lnTo>
                <a:lnTo>
                  <a:pt x="540067" y="164019"/>
                </a:lnTo>
                <a:lnTo>
                  <a:pt x="552068" y="164579"/>
                </a:lnTo>
                <a:lnTo>
                  <a:pt x="564070" y="164283"/>
                </a:lnTo>
                <a:lnTo>
                  <a:pt x="576071" y="163132"/>
                </a:lnTo>
                <a:lnTo>
                  <a:pt x="588073" y="161139"/>
                </a:lnTo>
                <a:lnTo>
                  <a:pt x="600075" y="158325"/>
                </a:lnTo>
                <a:lnTo>
                  <a:pt x="612076" y="154719"/>
                </a:lnTo>
                <a:lnTo>
                  <a:pt x="624078" y="150359"/>
                </a:lnTo>
                <a:lnTo>
                  <a:pt x="636079" y="145290"/>
                </a:lnTo>
                <a:lnTo>
                  <a:pt x="648081" y="139564"/>
                </a:lnTo>
                <a:lnTo>
                  <a:pt x="660082" y="133242"/>
                </a:lnTo>
                <a:lnTo>
                  <a:pt x="672084" y="126390"/>
                </a:lnTo>
                <a:lnTo>
                  <a:pt x="684085" y="119078"/>
                </a:lnTo>
                <a:lnTo>
                  <a:pt x="696087" y="111383"/>
                </a:lnTo>
                <a:lnTo>
                  <a:pt x="708088" y="103385"/>
                </a:lnTo>
                <a:lnTo>
                  <a:pt x="720089" y="95167"/>
                </a:lnTo>
                <a:lnTo>
                  <a:pt x="732091" y="86816"/>
                </a:lnTo>
                <a:lnTo>
                  <a:pt x="744092" y="78417"/>
                </a:lnTo>
                <a:lnTo>
                  <a:pt x="756094" y="70058"/>
                </a:lnTo>
                <a:lnTo>
                  <a:pt x="768095" y="61827"/>
                </a:lnTo>
                <a:lnTo>
                  <a:pt x="780097" y="53809"/>
                </a:lnTo>
                <a:lnTo>
                  <a:pt x="792098" y="46088"/>
                </a:lnTo>
                <a:lnTo>
                  <a:pt x="804100" y="38744"/>
                </a:lnTo>
                <a:lnTo>
                  <a:pt x="816102" y="31854"/>
                </a:lnTo>
                <a:lnTo>
                  <a:pt x="828103" y="25489"/>
                </a:lnTo>
                <a:lnTo>
                  <a:pt x="840105" y="19715"/>
                </a:lnTo>
                <a:lnTo>
                  <a:pt x="852106" y="14593"/>
                </a:lnTo>
                <a:lnTo>
                  <a:pt x="864108" y="10177"/>
                </a:lnTo>
                <a:lnTo>
                  <a:pt x="876109" y="6512"/>
                </a:lnTo>
                <a:lnTo>
                  <a:pt x="888111" y="3636"/>
                </a:lnTo>
                <a:lnTo>
                  <a:pt x="900112" y="1579"/>
                </a:lnTo>
                <a:lnTo>
                  <a:pt x="912113" y="363"/>
                </a:lnTo>
                <a:lnTo>
                  <a:pt x="924115" y="0"/>
                </a:lnTo>
                <a:lnTo>
                  <a:pt x="936116" y="494"/>
                </a:lnTo>
                <a:lnTo>
                  <a:pt x="948118" y="1841"/>
                </a:lnTo>
                <a:lnTo>
                  <a:pt x="960119" y="4025"/>
                </a:lnTo>
                <a:lnTo>
                  <a:pt x="972121" y="7025"/>
                </a:lnTo>
                <a:lnTo>
                  <a:pt x="984122" y="10809"/>
                </a:lnTo>
                <a:lnTo>
                  <a:pt x="996124" y="15337"/>
                </a:lnTo>
                <a:lnTo>
                  <a:pt x="1008126" y="20562"/>
                </a:lnTo>
                <a:lnTo>
                  <a:pt x="1020127" y="26431"/>
                </a:lnTo>
                <a:lnTo>
                  <a:pt x="1032129" y="32881"/>
                </a:lnTo>
                <a:lnTo>
                  <a:pt x="1044130" y="39846"/>
                </a:lnTo>
                <a:lnTo>
                  <a:pt x="1056132" y="47254"/>
                </a:lnTo>
                <a:lnTo>
                  <a:pt x="1068133" y="55026"/>
                </a:lnTo>
                <a:lnTo>
                  <a:pt x="1080135" y="63082"/>
                </a:lnTo>
                <a:lnTo>
                  <a:pt x="1092136" y="71338"/>
                </a:lnTo>
                <a:lnTo>
                  <a:pt x="1104137" y="79709"/>
                </a:lnTo>
                <a:lnTo>
                  <a:pt x="1116139" y="88106"/>
                </a:lnTo>
                <a:lnTo>
                  <a:pt x="1128141" y="96443"/>
                </a:lnTo>
                <a:lnTo>
                  <a:pt x="1140142" y="104632"/>
                </a:lnTo>
                <a:lnTo>
                  <a:pt x="1152143" y="112589"/>
                </a:lnTo>
                <a:lnTo>
                  <a:pt x="1164145" y="120230"/>
                </a:lnTo>
                <a:lnTo>
                  <a:pt x="1176146" y="127476"/>
                </a:lnTo>
                <a:lnTo>
                  <a:pt x="1188148" y="134251"/>
                </a:lnTo>
                <a:lnTo>
                  <a:pt x="1200150" y="140486"/>
                </a:lnTo>
                <a:lnTo>
                  <a:pt x="1212151" y="146114"/>
                </a:lnTo>
                <a:lnTo>
                  <a:pt x="1224153" y="151077"/>
                </a:lnTo>
                <a:lnTo>
                  <a:pt x="1236154" y="155324"/>
                </a:lnTo>
                <a:lnTo>
                  <a:pt x="1248156" y="158810"/>
                </a:lnTo>
                <a:lnTo>
                  <a:pt x="1260157" y="161500"/>
                </a:lnTo>
                <a:lnTo>
                  <a:pt x="1272159" y="163364"/>
                </a:lnTo>
                <a:lnTo>
                  <a:pt x="1284160" y="164384"/>
                </a:lnTo>
                <a:lnTo>
                  <a:pt x="1296162" y="164549"/>
                </a:lnTo>
                <a:lnTo>
                  <a:pt x="1308163" y="163857"/>
                </a:lnTo>
                <a:lnTo>
                  <a:pt x="1320164" y="162316"/>
                </a:lnTo>
                <a:lnTo>
                  <a:pt x="1332166" y="159941"/>
                </a:lnTo>
                <a:lnTo>
                  <a:pt x="1344167" y="156757"/>
                </a:lnTo>
                <a:lnTo>
                  <a:pt x="1356169" y="152798"/>
                </a:lnTo>
                <a:lnTo>
                  <a:pt x="1368170" y="148104"/>
                </a:lnTo>
                <a:lnTo>
                  <a:pt x="1380172" y="142725"/>
                </a:lnTo>
                <a:lnTo>
                  <a:pt x="1392173" y="136717"/>
                </a:lnTo>
                <a:lnTo>
                  <a:pt x="1404175" y="130141"/>
                </a:lnTo>
                <a:lnTo>
                  <a:pt x="1416177" y="123068"/>
                </a:lnTo>
                <a:lnTo>
                  <a:pt x="1428178" y="115569"/>
                </a:lnTo>
                <a:lnTo>
                  <a:pt x="1440180" y="107724"/>
                </a:lnTo>
                <a:lnTo>
                  <a:pt x="1452181" y="99614"/>
                </a:lnTo>
                <a:lnTo>
                  <a:pt x="1464183" y="91324"/>
                </a:lnTo>
                <a:lnTo>
                  <a:pt x="1476184" y="82940"/>
                </a:lnTo>
                <a:lnTo>
                  <a:pt x="1488186" y="74549"/>
                </a:lnTo>
                <a:lnTo>
                  <a:pt x="1500187" y="66238"/>
                </a:lnTo>
                <a:lnTo>
                  <a:pt x="1512189" y="58095"/>
                </a:lnTo>
                <a:lnTo>
                  <a:pt x="1524190" y="50204"/>
                </a:lnTo>
                <a:lnTo>
                  <a:pt x="1536191" y="42647"/>
                </a:lnTo>
                <a:lnTo>
                  <a:pt x="1548193" y="35503"/>
                </a:lnTo>
                <a:lnTo>
                  <a:pt x="1560194" y="28847"/>
                </a:lnTo>
                <a:lnTo>
                  <a:pt x="1572196" y="22747"/>
                </a:lnTo>
                <a:lnTo>
                  <a:pt x="1584197" y="17267"/>
                </a:lnTo>
                <a:lnTo>
                  <a:pt x="1596199" y="12465"/>
                </a:lnTo>
                <a:lnTo>
                  <a:pt x="1608201" y="8389"/>
                </a:lnTo>
                <a:lnTo>
                  <a:pt x="1620202" y="5084"/>
                </a:lnTo>
                <a:lnTo>
                  <a:pt x="1632204" y="2583"/>
                </a:lnTo>
                <a:lnTo>
                  <a:pt x="1644205" y="912"/>
                </a:lnTo>
                <a:lnTo>
                  <a:pt x="1656207" y="89"/>
                </a:lnTo>
                <a:lnTo>
                  <a:pt x="1668208" y="122"/>
                </a:lnTo>
                <a:lnTo>
                  <a:pt x="1680210" y="1011"/>
                </a:lnTo>
                <a:lnTo>
                  <a:pt x="1692211" y="2746"/>
                </a:lnTo>
                <a:lnTo>
                  <a:pt x="1704212" y="5310"/>
                </a:lnTo>
                <a:lnTo>
                  <a:pt x="1716214" y="8676"/>
                </a:lnTo>
                <a:lnTo>
                  <a:pt x="1728216" y="12809"/>
                </a:lnTo>
                <a:lnTo>
                  <a:pt x="1740217" y="17665"/>
                </a:lnTo>
                <a:lnTo>
                  <a:pt x="1752218" y="23195"/>
                </a:lnTo>
                <a:lnTo>
                  <a:pt x="1764220" y="29340"/>
                </a:lnTo>
                <a:lnTo>
                  <a:pt x="1776221" y="36036"/>
                </a:lnTo>
                <a:lnTo>
                  <a:pt x="1788223" y="43215"/>
                </a:lnTo>
                <a:lnTo>
                  <a:pt x="1800225" y="50800"/>
                </a:lnTo>
                <a:lnTo>
                  <a:pt x="1812226" y="58714"/>
                </a:lnTo>
                <a:lnTo>
                  <a:pt x="1824228" y="66873"/>
                </a:lnTo>
                <a:lnTo>
                  <a:pt x="1836229" y="75192"/>
                </a:lnTo>
                <a:lnTo>
                  <a:pt x="1848231" y="83586"/>
                </a:lnTo>
                <a:lnTo>
                  <a:pt x="1860232" y="91966"/>
                </a:lnTo>
                <a:lnTo>
                  <a:pt x="1872233" y="100246"/>
                </a:lnTo>
                <a:lnTo>
                  <a:pt x="1884235" y="108338"/>
                </a:lnTo>
                <a:lnTo>
                  <a:pt x="1896237" y="116159"/>
                </a:lnTo>
                <a:lnTo>
                  <a:pt x="1908238" y="123628"/>
                </a:lnTo>
                <a:lnTo>
                  <a:pt x="1920239" y="130666"/>
                </a:lnTo>
              </a:path>
            </a:pathLst>
          </a:custGeom>
          <a:noFill/>
          <a:ln w="11430">
            <a:solidFill>
              <a:srgbClr val="4C72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4178807" y="3520440"/>
            <a:ext cx="292608" cy="1280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590" b="0" i="1">
                <a:solidFill>
                  <a:srgbClr val="4C72B0"/>
                </a:solidFill>
                <a:latin typeface="Arial"/>
              </a:rPr>
              <a:t>i = d/2</a:t>
            </a:r>
          </a:p>
        </p:txBody>
      </p:sp>
      <p:sp>
        <p:nvSpPr>
          <p:cNvPr id="101" name="Freeform 100"/>
          <p:cNvSpPr/>
          <p:nvPr/>
        </p:nvSpPr>
        <p:spPr>
          <a:xfrm>
            <a:off x="4517136" y="3502162"/>
            <a:ext cx="1920239" cy="164579"/>
          </a:xfrm>
          <a:custGeom>
            <a:avLst/>
            <a:gdLst/>
            <a:ahLst/>
            <a:cxnLst/>
            <a:rect l="l" t="t" r="r" b="b"/>
            <a:pathLst>
              <a:path w="1920239" h="164579">
                <a:moveTo>
                  <a:pt x="0" y="82286"/>
                </a:moveTo>
                <a:lnTo>
                  <a:pt x="12001" y="62446"/>
                </a:lnTo>
                <a:lnTo>
                  <a:pt x="24003" y="43777"/>
                </a:lnTo>
                <a:lnTo>
                  <a:pt x="36004" y="27379"/>
                </a:lnTo>
                <a:lnTo>
                  <a:pt x="48006" y="14220"/>
                </a:lnTo>
                <a:lnTo>
                  <a:pt x="60007" y="5076"/>
                </a:lnTo>
                <a:lnTo>
                  <a:pt x="72009" y="486"/>
                </a:lnTo>
                <a:lnTo>
                  <a:pt x="84010" y="722"/>
                </a:lnTo>
                <a:lnTo>
                  <a:pt x="96012" y="5769"/>
                </a:lnTo>
                <a:lnTo>
                  <a:pt x="108013" y="15329"/>
                </a:lnTo>
                <a:lnTo>
                  <a:pt x="120014" y="28839"/>
                </a:lnTo>
                <a:lnTo>
                  <a:pt x="132016" y="45501"/>
                </a:lnTo>
                <a:lnTo>
                  <a:pt x="144017" y="64333"/>
                </a:lnTo>
                <a:lnTo>
                  <a:pt x="156019" y="84224"/>
                </a:lnTo>
                <a:lnTo>
                  <a:pt x="168020" y="104001"/>
                </a:lnTo>
                <a:lnTo>
                  <a:pt x="180022" y="122497"/>
                </a:lnTo>
                <a:lnTo>
                  <a:pt x="192023" y="138621"/>
                </a:lnTo>
                <a:lnTo>
                  <a:pt x="204025" y="151422"/>
                </a:lnTo>
                <a:lnTo>
                  <a:pt x="216027" y="160145"/>
                </a:lnTo>
                <a:lnTo>
                  <a:pt x="228028" y="164275"/>
                </a:lnTo>
                <a:lnTo>
                  <a:pt x="240030" y="163568"/>
                </a:lnTo>
                <a:lnTo>
                  <a:pt x="252031" y="158067"/>
                </a:lnTo>
                <a:lnTo>
                  <a:pt x="264033" y="148096"/>
                </a:lnTo>
                <a:lnTo>
                  <a:pt x="276034" y="134243"/>
                </a:lnTo>
                <a:lnTo>
                  <a:pt x="288036" y="117325"/>
                </a:lnTo>
                <a:lnTo>
                  <a:pt x="300037" y="98341"/>
                </a:lnTo>
                <a:lnTo>
                  <a:pt x="312039" y="78409"/>
                </a:lnTo>
                <a:lnTo>
                  <a:pt x="324040" y="58706"/>
                </a:lnTo>
                <a:lnTo>
                  <a:pt x="336041" y="40393"/>
                </a:lnTo>
                <a:lnTo>
                  <a:pt x="348043" y="24552"/>
                </a:lnTo>
                <a:lnTo>
                  <a:pt x="360044" y="12117"/>
                </a:lnTo>
                <a:lnTo>
                  <a:pt x="372046" y="3820"/>
                </a:lnTo>
                <a:lnTo>
                  <a:pt x="384047" y="152"/>
                </a:lnTo>
                <a:lnTo>
                  <a:pt x="396049" y="1329"/>
                </a:lnTo>
                <a:lnTo>
                  <a:pt x="408051" y="7281"/>
                </a:lnTo>
                <a:lnTo>
                  <a:pt x="420052" y="17657"/>
                </a:lnTo>
                <a:lnTo>
                  <a:pt x="432054" y="31846"/>
                </a:lnTo>
                <a:lnTo>
                  <a:pt x="444055" y="49010"/>
                </a:lnTo>
                <a:lnTo>
                  <a:pt x="456057" y="68136"/>
                </a:lnTo>
                <a:lnTo>
                  <a:pt x="468058" y="88098"/>
                </a:lnTo>
                <a:lnTo>
                  <a:pt x="480060" y="107716"/>
                </a:lnTo>
                <a:lnTo>
                  <a:pt x="492061" y="125835"/>
                </a:lnTo>
                <a:lnTo>
                  <a:pt x="504062" y="141384"/>
                </a:lnTo>
                <a:lnTo>
                  <a:pt x="516064" y="153448"/>
                </a:lnTo>
                <a:lnTo>
                  <a:pt x="528066" y="161314"/>
                </a:lnTo>
                <a:lnTo>
                  <a:pt x="540067" y="164518"/>
                </a:lnTo>
                <a:lnTo>
                  <a:pt x="552068" y="162872"/>
                </a:lnTo>
                <a:lnTo>
                  <a:pt x="564070" y="156472"/>
                </a:lnTo>
                <a:lnTo>
                  <a:pt x="576071" y="145696"/>
                </a:lnTo>
                <a:lnTo>
                  <a:pt x="588073" y="131179"/>
                </a:lnTo>
                <a:lnTo>
                  <a:pt x="600075" y="113779"/>
                </a:lnTo>
                <a:lnTo>
                  <a:pt x="612076" y="94521"/>
                </a:lnTo>
                <a:lnTo>
                  <a:pt x="624078" y="74541"/>
                </a:lnTo>
                <a:lnTo>
                  <a:pt x="636079" y="55018"/>
                </a:lnTo>
                <a:lnTo>
                  <a:pt x="648081" y="37103"/>
                </a:lnTo>
                <a:lnTo>
                  <a:pt x="660082" y="21854"/>
                </a:lnTo>
                <a:lnTo>
                  <a:pt x="672084" y="10169"/>
                </a:lnTo>
                <a:lnTo>
                  <a:pt x="684085" y="2738"/>
                </a:lnTo>
                <a:lnTo>
                  <a:pt x="696087" y="0"/>
                </a:lnTo>
                <a:lnTo>
                  <a:pt x="708088" y="2115"/>
                </a:lnTo>
                <a:lnTo>
                  <a:pt x="720089" y="8959"/>
                </a:lnTo>
                <a:lnTo>
                  <a:pt x="732091" y="20129"/>
                </a:lnTo>
                <a:lnTo>
                  <a:pt x="744092" y="34965"/>
                </a:lnTo>
                <a:lnTo>
                  <a:pt x="756094" y="52592"/>
                </a:lnTo>
                <a:lnTo>
                  <a:pt x="768095" y="71971"/>
                </a:lnTo>
                <a:lnTo>
                  <a:pt x="780097" y="91958"/>
                </a:lnTo>
                <a:lnTo>
                  <a:pt x="792098" y="111375"/>
                </a:lnTo>
                <a:lnTo>
                  <a:pt x="804100" y="129076"/>
                </a:lnTo>
                <a:lnTo>
                  <a:pt x="816102" y="144017"/>
                </a:lnTo>
                <a:lnTo>
                  <a:pt x="828103" y="155316"/>
                </a:lnTo>
                <a:lnTo>
                  <a:pt x="840105" y="162308"/>
                </a:lnTo>
                <a:lnTo>
                  <a:pt x="852106" y="164579"/>
                </a:lnTo>
                <a:lnTo>
                  <a:pt x="864108" y="161996"/>
                </a:lnTo>
                <a:lnTo>
                  <a:pt x="876109" y="154711"/>
                </a:lnTo>
                <a:lnTo>
                  <a:pt x="888111" y="143154"/>
                </a:lnTo>
                <a:lnTo>
                  <a:pt x="900112" y="128007"/>
                </a:lnTo>
                <a:lnTo>
                  <a:pt x="912113" y="110162"/>
                </a:lnTo>
                <a:lnTo>
                  <a:pt x="924115" y="90673"/>
                </a:lnTo>
                <a:lnTo>
                  <a:pt x="936116" y="70690"/>
                </a:lnTo>
                <a:lnTo>
                  <a:pt x="948118" y="51390"/>
                </a:lnTo>
                <a:lnTo>
                  <a:pt x="960119" y="33913"/>
                </a:lnTo>
                <a:lnTo>
                  <a:pt x="972121" y="19289"/>
                </a:lnTo>
                <a:lnTo>
                  <a:pt x="984122" y="8381"/>
                </a:lnTo>
                <a:lnTo>
                  <a:pt x="996124" y="1833"/>
                </a:lnTo>
                <a:lnTo>
                  <a:pt x="1008126" y="30"/>
                </a:lnTo>
                <a:lnTo>
                  <a:pt x="1020127" y="3079"/>
                </a:lnTo>
                <a:lnTo>
                  <a:pt x="1032129" y="10801"/>
                </a:lnTo>
                <a:lnTo>
                  <a:pt x="1044130" y="22739"/>
                </a:lnTo>
                <a:lnTo>
                  <a:pt x="1056132" y="38189"/>
                </a:lnTo>
                <a:lnTo>
                  <a:pt x="1068133" y="56241"/>
                </a:lnTo>
                <a:lnTo>
                  <a:pt x="1080135" y="75829"/>
                </a:lnTo>
                <a:lnTo>
                  <a:pt x="1092136" y="95797"/>
                </a:lnTo>
                <a:lnTo>
                  <a:pt x="1104137" y="114969"/>
                </a:lnTo>
                <a:lnTo>
                  <a:pt x="1116139" y="132213"/>
                </a:lnTo>
                <a:lnTo>
                  <a:pt x="1128141" y="146512"/>
                </a:lnTo>
                <a:lnTo>
                  <a:pt x="1140142" y="157022"/>
                </a:lnTo>
                <a:lnTo>
                  <a:pt x="1152143" y="163124"/>
                </a:lnTo>
                <a:lnTo>
                  <a:pt x="1164145" y="164457"/>
                </a:lnTo>
                <a:lnTo>
                  <a:pt x="1176146" y="160943"/>
                </a:lnTo>
                <a:lnTo>
                  <a:pt x="1188148" y="152790"/>
                </a:lnTo>
                <a:lnTo>
                  <a:pt x="1200150" y="140478"/>
                </a:lnTo>
                <a:lnTo>
                  <a:pt x="1212151" y="124733"/>
                </a:lnTo>
                <a:lnTo>
                  <a:pt x="1224153" y="106484"/>
                </a:lnTo>
                <a:lnTo>
                  <a:pt x="1236154" y="86808"/>
                </a:lnTo>
                <a:lnTo>
                  <a:pt x="1248156" y="66865"/>
                </a:lnTo>
                <a:lnTo>
                  <a:pt x="1260157" y="47831"/>
                </a:lnTo>
                <a:lnTo>
                  <a:pt x="1272159" y="30831"/>
                </a:lnTo>
                <a:lnTo>
                  <a:pt x="1284160" y="16865"/>
                </a:lnTo>
                <a:lnTo>
                  <a:pt x="1296162" y="6758"/>
                </a:lnTo>
                <a:lnTo>
                  <a:pt x="1308163" y="1106"/>
                </a:lnTo>
                <a:lnTo>
                  <a:pt x="1320164" y="243"/>
                </a:lnTo>
                <a:lnTo>
                  <a:pt x="1332166" y="4219"/>
                </a:lnTo>
                <a:lnTo>
                  <a:pt x="1344167" y="12801"/>
                </a:lnTo>
                <a:lnTo>
                  <a:pt x="1356169" y="25481"/>
                </a:lnTo>
                <a:lnTo>
                  <a:pt x="1368170" y="41511"/>
                </a:lnTo>
                <a:lnTo>
                  <a:pt x="1380172" y="59947"/>
                </a:lnTo>
                <a:lnTo>
                  <a:pt x="1392173" y="79701"/>
                </a:lnTo>
                <a:lnTo>
                  <a:pt x="1404175" y="99606"/>
                </a:lnTo>
                <a:lnTo>
                  <a:pt x="1416177" y="118491"/>
                </a:lnTo>
                <a:lnTo>
                  <a:pt x="1428178" y="135239"/>
                </a:lnTo>
                <a:lnTo>
                  <a:pt x="1440180" y="148864"/>
                </a:lnTo>
                <a:lnTo>
                  <a:pt x="1452181" y="158562"/>
                </a:lnTo>
                <a:lnTo>
                  <a:pt x="1464183" y="163760"/>
                </a:lnTo>
                <a:lnTo>
                  <a:pt x="1476184" y="164153"/>
                </a:lnTo>
                <a:lnTo>
                  <a:pt x="1488186" y="159716"/>
                </a:lnTo>
                <a:lnTo>
                  <a:pt x="1500187" y="150712"/>
                </a:lnTo>
                <a:lnTo>
                  <a:pt x="1512189" y="137672"/>
                </a:lnTo>
                <a:lnTo>
                  <a:pt x="1524190" y="121364"/>
                </a:lnTo>
                <a:lnTo>
                  <a:pt x="1536191" y="102752"/>
                </a:lnTo>
                <a:lnTo>
                  <a:pt x="1548193" y="82932"/>
                </a:lnTo>
                <a:lnTo>
                  <a:pt x="1560194" y="63074"/>
                </a:lnTo>
                <a:lnTo>
                  <a:pt x="1572196" y="44349"/>
                </a:lnTo>
                <a:lnTo>
                  <a:pt x="1584197" y="27862"/>
                </a:lnTo>
                <a:lnTo>
                  <a:pt x="1596199" y="14585"/>
                </a:lnTo>
                <a:lnTo>
                  <a:pt x="1608201" y="5302"/>
                </a:lnTo>
                <a:lnTo>
                  <a:pt x="1620202" y="560"/>
                </a:lnTo>
                <a:lnTo>
                  <a:pt x="1632204" y="638"/>
                </a:lnTo>
                <a:lnTo>
                  <a:pt x="1644205" y="5533"/>
                </a:lnTo>
                <a:lnTo>
                  <a:pt x="1656207" y="14955"/>
                </a:lnTo>
                <a:lnTo>
                  <a:pt x="1668208" y="28349"/>
                </a:lnTo>
                <a:lnTo>
                  <a:pt x="1680210" y="44924"/>
                </a:lnTo>
                <a:lnTo>
                  <a:pt x="1692211" y="63703"/>
                </a:lnTo>
                <a:lnTo>
                  <a:pt x="1704212" y="83578"/>
                </a:lnTo>
                <a:lnTo>
                  <a:pt x="1716214" y="103377"/>
                </a:lnTo>
                <a:lnTo>
                  <a:pt x="1728216" y="121932"/>
                </a:lnTo>
                <a:lnTo>
                  <a:pt x="1740217" y="138148"/>
                </a:lnTo>
                <a:lnTo>
                  <a:pt x="1752218" y="151069"/>
                </a:lnTo>
                <a:lnTo>
                  <a:pt x="1764220" y="159933"/>
                </a:lnTo>
                <a:lnTo>
                  <a:pt x="1776221" y="164216"/>
                </a:lnTo>
                <a:lnTo>
                  <a:pt x="1788223" y="163667"/>
                </a:lnTo>
                <a:lnTo>
                  <a:pt x="1800225" y="158317"/>
                </a:lnTo>
                <a:lnTo>
                  <a:pt x="1812226" y="148482"/>
                </a:lnTo>
                <a:lnTo>
                  <a:pt x="1824228" y="134743"/>
                </a:lnTo>
                <a:lnTo>
                  <a:pt x="1836229" y="117909"/>
                </a:lnTo>
                <a:lnTo>
                  <a:pt x="1848231" y="98974"/>
                </a:lnTo>
                <a:lnTo>
                  <a:pt x="1860232" y="79055"/>
                </a:lnTo>
                <a:lnTo>
                  <a:pt x="1872233" y="59326"/>
                </a:lnTo>
                <a:lnTo>
                  <a:pt x="1884235" y="40951"/>
                </a:lnTo>
                <a:lnTo>
                  <a:pt x="1896237" y="25015"/>
                </a:lnTo>
                <a:lnTo>
                  <a:pt x="1908238" y="12457"/>
                </a:lnTo>
                <a:lnTo>
                  <a:pt x="1920239" y="4017"/>
                </a:lnTo>
              </a:path>
            </a:pathLst>
          </a:custGeom>
          <a:noFill/>
          <a:ln w="11430">
            <a:solidFill>
              <a:srgbClr val="4C72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4178807" y="3438144"/>
            <a:ext cx="292608" cy="1280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700" b="0" i="0">
                <a:solidFill>
                  <a:srgbClr val="666666"/>
                </a:solidFill>
                <a:latin typeface="Arial"/>
              </a:rPr>
              <a:t>⋮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517136" y="3712464"/>
            <a:ext cx="1920240" cy="1005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560" b="0" i="1">
                <a:solidFill>
                  <a:srgbClr val="666666"/>
                </a:solidFill>
                <a:latin typeface="Arial"/>
              </a:rPr>
              <a:t>geometric frequencies fixed a priori</a:t>
            </a:r>
          </a:p>
        </p:txBody>
      </p:sp>
      <p:cxnSp>
        <p:nvCxnSpPr>
          <p:cNvPr id="104" name="Connector 103"/>
          <p:cNvCxnSpPr/>
          <p:nvPr/>
        </p:nvCxnSpPr>
        <p:spPr>
          <a:xfrm>
            <a:off x="6638544" y="3191256"/>
            <a:ext cx="164592" cy="0"/>
          </a:xfrm>
          <a:prstGeom prst="line">
            <a:avLst/>
          </a:prstGeom>
          <a:ln w="11430">
            <a:solidFill>
              <a:srgbClr val="1A1A1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Rectangle 104"/>
          <p:cNvSpPr/>
          <p:nvPr/>
        </p:nvSpPr>
        <p:spPr>
          <a:xfrm>
            <a:off x="6821424" y="2697480"/>
            <a:ext cx="182880" cy="98755"/>
          </a:xfrm>
          <a:prstGeom prst="rect">
            <a:avLst/>
          </a:prstGeom>
          <a:solidFill>
            <a:srgbClr val="9CB1D3"/>
          </a:solidFill>
          <a:ln w="508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6" name="Rectangle 105"/>
          <p:cNvSpPr/>
          <p:nvPr/>
        </p:nvSpPr>
        <p:spPr>
          <a:xfrm>
            <a:off x="6821424" y="2796235"/>
            <a:ext cx="182880" cy="98755"/>
          </a:xfrm>
          <a:prstGeom prst="rect">
            <a:avLst/>
          </a:prstGeom>
          <a:solidFill>
            <a:srgbClr val="DBE2EF"/>
          </a:solidFill>
          <a:ln w="508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7" name="Rectangle 106"/>
          <p:cNvSpPr/>
          <p:nvPr/>
        </p:nvSpPr>
        <p:spPr>
          <a:xfrm>
            <a:off x="6821424" y="2894990"/>
            <a:ext cx="182880" cy="98755"/>
          </a:xfrm>
          <a:prstGeom prst="rect">
            <a:avLst/>
          </a:prstGeom>
          <a:solidFill>
            <a:srgbClr val="7391C1"/>
          </a:solidFill>
          <a:ln w="508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8" name="Rectangle 107"/>
          <p:cNvSpPr/>
          <p:nvPr/>
        </p:nvSpPr>
        <p:spPr>
          <a:xfrm>
            <a:off x="6821424" y="2993745"/>
            <a:ext cx="182880" cy="98755"/>
          </a:xfrm>
          <a:prstGeom prst="rect">
            <a:avLst/>
          </a:prstGeom>
          <a:solidFill>
            <a:srgbClr val="BECCE2"/>
          </a:solidFill>
          <a:ln w="508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9" name="Rectangle 108"/>
          <p:cNvSpPr/>
          <p:nvPr/>
        </p:nvSpPr>
        <p:spPr>
          <a:xfrm>
            <a:off x="6821424" y="3092500"/>
            <a:ext cx="182880" cy="98755"/>
          </a:xfrm>
          <a:prstGeom prst="rect">
            <a:avLst/>
          </a:prstGeom>
          <a:solidFill>
            <a:srgbClr val="E5EBF3"/>
          </a:solidFill>
          <a:ln w="508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0" name="Rectangle 109"/>
          <p:cNvSpPr/>
          <p:nvPr/>
        </p:nvSpPr>
        <p:spPr>
          <a:xfrm>
            <a:off x="6821424" y="3191256"/>
            <a:ext cx="182880" cy="98755"/>
          </a:xfrm>
          <a:prstGeom prst="rect">
            <a:avLst/>
          </a:prstGeom>
          <a:solidFill>
            <a:srgbClr val="88A1CA"/>
          </a:solidFill>
          <a:ln w="508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1" name="Rectangle 110"/>
          <p:cNvSpPr/>
          <p:nvPr/>
        </p:nvSpPr>
        <p:spPr>
          <a:xfrm>
            <a:off x="6821424" y="3290011"/>
            <a:ext cx="182880" cy="98755"/>
          </a:xfrm>
          <a:prstGeom prst="rect">
            <a:avLst/>
          </a:prstGeom>
          <a:solidFill>
            <a:srgbClr val="C9D4E7"/>
          </a:solidFill>
          <a:ln w="508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2" name="Rectangle 111"/>
          <p:cNvSpPr/>
          <p:nvPr/>
        </p:nvSpPr>
        <p:spPr>
          <a:xfrm>
            <a:off x="6821424" y="3388766"/>
            <a:ext cx="182880" cy="98755"/>
          </a:xfrm>
          <a:prstGeom prst="rect">
            <a:avLst/>
          </a:prstGeom>
          <a:solidFill>
            <a:srgbClr val="6182B9"/>
          </a:solidFill>
          <a:ln w="508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3" name="Rectangle 112"/>
          <p:cNvSpPr/>
          <p:nvPr/>
        </p:nvSpPr>
        <p:spPr>
          <a:xfrm>
            <a:off x="6821424" y="3487521"/>
            <a:ext cx="182880" cy="98755"/>
          </a:xfrm>
          <a:prstGeom prst="rect">
            <a:avLst/>
          </a:prstGeom>
          <a:solidFill>
            <a:srgbClr val="B3C3DD"/>
          </a:solidFill>
          <a:ln w="508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4" name="Rectangle 113"/>
          <p:cNvSpPr/>
          <p:nvPr/>
        </p:nvSpPr>
        <p:spPr>
          <a:xfrm>
            <a:off x="6821424" y="3586276"/>
            <a:ext cx="182880" cy="98755"/>
          </a:xfrm>
          <a:prstGeom prst="rect">
            <a:avLst/>
          </a:prstGeom>
          <a:solidFill>
            <a:srgbClr val="93AACF"/>
          </a:solidFill>
          <a:ln w="508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6528816" y="3721608"/>
            <a:ext cx="768096" cy="1280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760" b="1" i="1">
                <a:solidFill>
                  <a:srgbClr val="4C72B0"/>
                </a:solidFill>
                <a:latin typeface="Arial"/>
              </a:rPr>
              <a:t>p</a:t>
            </a:r>
            <a:r>
              <a:rPr sz="540" b="0" i="0" baseline="-25000">
                <a:solidFill>
                  <a:srgbClr val="4C72B0"/>
                </a:solidFill>
                <a:latin typeface="Arial"/>
              </a:rPr>
              <a:t>idx</a:t>
            </a:r>
            <a:r>
              <a:rPr sz="760" b="0" i="0">
                <a:solidFill>
                  <a:srgbClr val="4C72B0"/>
                </a:solidFill>
                <a:latin typeface="Arial"/>
              </a:rPr>
              <a:t>(</a:t>
            </a:r>
            <a:r>
              <a:rPr sz="760" b="0" i="1">
                <a:solidFill>
                  <a:srgbClr val="4C72B0"/>
                </a:solidFill>
                <a:latin typeface="Arial"/>
              </a:rPr>
              <a:t>k</a:t>
            </a:r>
            <a:r>
              <a:rPr sz="760" b="0" i="0">
                <a:solidFill>
                  <a:srgbClr val="4C72B0"/>
                </a:solidFill>
                <a:latin typeface="Arial"/>
              </a:rPr>
              <a:t>)</a:t>
            </a:r>
          </a:p>
        </p:txBody>
      </p:sp>
      <p:cxnSp>
        <p:nvCxnSpPr>
          <p:cNvPr id="116" name="Connector 115"/>
          <p:cNvCxnSpPr/>
          <p:nvPr/>
        </p:nvCxnSpPr>
        <p:spPr>
          <a:xfrm>
            <a:off x="7004304" y="1197864"/>
            <a:ext cx="585216" cy="0"/>
          </a:xfrm>
          <a:prstGeom prst="line">
            <a:avLst/>
          </a:prstGeom>
          <a:ln w="12700">
            <a:solidFill>
              <a:srgbClr val="1A1A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7589520" y="1197864"/>
            <a:ext cx="0" cy="960120"/>
          </a:xfrm>
          <a:prstGeom prst="line">
            <a:avLst/>
          </a:prstGeom>
          <a:ln w="12700">
            <a:solidFill>
              <a:srgbClr val="1A1A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7004304" y="3191256"/>
            <a:ext cx="585216" cy="0"/>
          </a:xfrm>
          <a:prstGeom prst="line">
            <a:avLst/>
          </a:prstGeom>
          <a:ln w="12700">
            <a:solidFill>
              <a:srgbClr val="1A1A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7589520" y="2157984"/>
            <a:ext cx="0" cy="1033272"/>
          </a:xfrm>
          <a:prstGeom prst="line">
            <a:avLst/>
          </a:prstGeom>
          <a:ln w="12700">
            <a:solidFill>
              <a:srgbClr val="1A1A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7589520" y="2157984"/>
            <a:ext cx="384048" cy="0"/>
          </a:xfrm>
          <a:prstGeom prst="line">
            <a:avLst/>
          </a:prstGeom>
          <a:ln w="12700">
            <a:solidFill>
              <a:srgbClr val="1A1A1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Oval 120"/>
          <p:cNvSpPr/>
          <p:nvPr/>
        </p:nvSpPr>
        <p:spPr>
          <a:xfrm>
            <a:off x="8033004" y="2034539"/>
            <a:ext cx="246888" cy="246888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8033004" y="2057400"/>
            <a:ext cx="246888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000" b="0" i="0" dirty="0">
                <a:solidFill>
                  <a:srgbClr val="1A1A1A"/>
                </a:solidFill>
                <a:latin typeface="Arial"/>
              </a:rPr>
              <a:t>⊕</a:t>
            </a:r>
          </a:p>
        </p:txBody>
      </p:sp>
      <p:cxnSp>
        <p:nvCxnSpPr>
          <p:cNvPr id="123" name="Connector 122"/>
          <p:cNvCxnSpPr/>
          <p:nvPr/>
        </p:nvCxnSpPr>
        <p:spPr>
          <a:xfrm>
            <a:off x="8293608" y="2157984"/>
            <a:ext cx="173736" cy="0"/>
          </a:xfrm>
          <a:prstGeom prst="line">
            <a:avLst/>
          </a:prstGeom>
          <a:ln w="12700">
            <a:solidFill>
              <a:srgbClr val="1A1A1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Rounded Rectangle 123"/>
          <p:cNvSpPr/>
          <p:nvPr/>
        </p:nvSpPr>
        <p:spPr>
          <a:xfrm>
            <a:off x="8485632" y="1984248"/>
            <a:ext cx="1042415" cy="34747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8485632" y="1984248"/>
            <a:ext cx="1042415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800" b="1" i="1">
                <a:solidFill>
                  <a:srgbClr val="1A1A1A"/>
                </a:solidFill>
                <a:latin typeface="Arial"/>
              </a:rPr>
              <a:t>p</a:t>
            </a:r>
            <a:r>
              <a:rPr sz="540" b="0" i="0" baseline="-25000">
                <a:solidFill>
                  <a:srgbClr val="1A1A1A"/>
                </a:solidFill>
                <a:latin typeface="Arial"/>
              </a:rPr>
              <a:t>DTPE</a:t>
            </a:r>
            <a:r>
              <a:rPr sz="800" b="0" i="0">
                <a:solidFill>
                  <a:srgbClr val="1A1A1A"/>
                </a:solidFill>
                <a:latin typeface="Arial"/>
              </a:rPr>
              <a:t>(</a:t>
            </a:r>
            <a:r>
              <a:rPr sz="800" b="0" i="1">
                <a:solidFill>
                  <a:srgbClr val="1A1A1A"/>
                </a:solidFill>
                <a:latin typeface="Arial"/>
              </a:rPr>
              <a:t>t</a:t>
            </a:r>
            <a:r>
              <a:rPr sz="800" b="0" i="0">
                <a:solidFill>
                  <a:srgbClr val="1A1A1A"/>
                </a:solidFill>
                <a:latin typeface="Arial"/>
              </a:rPr>
              <a:t>, </a:t>
            </a:r>
            <a:r>
              <a:rPr sz="800" b="0" i="1">
                <a:solidFill>
                  <a:srgbClr val="1A1A1A"/>
                </a:solidFill>
                <a:latin typeface="Arial"/>
              </a:rPr>
              <a:t>k</a:t>
            </a:r>
            <a:r>
              <a:rPr sz="800" b="0" i="0">
                <a:solidFill>
                  <a:srgbClr val="1A1A1A"/>
                </a:solidFill>
                <a:latin typeface="Arial"/>
              </a:rPr>
              <a:t>)</a:t>
            </a:r>
          </a:p>
        </p:txBody>
      </p:sp>
      <p:cxnSp>
        <p:nvCxnSpPr>
          <p:cNvPr id="126" name="Connector 125"/>
          <p:cNvCxnSpPr/>
          <p:nvPr/>
        </p:nvCxnSpPr>
        <p:spPr>
          <a:xfrm>
            <a:off x="9546336" y="2157984"/>
            <a:ext cx="146304" cy="0"/>
          </a:xfrm>
          <a:prstGeom prst="line">
            <a:avLst/>
          </a:prstGeom>
          <a:ln w="12700">
            <a:solidFill>
              <a:srgbClr val="1A1A1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Oval 126"/>
          <p:cNvSpPr/>
          <p:nvPr/>
        </p:nvSpPr>
        <p:spPr>
          <a:xfrm>
            <a:off x="9733788" y="2034539"/>
            <a:ext cx="246888" cy="246888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9733788" y="2057400"/>
            <a:ext cx="246888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000" b="0" i="0">
                <a:solidFill>
                  <a:srgbClr val="1A1A1A"/>
                </a:solidFill>
                <a:latin typeface="Arial"/>
              </a:rPr>
              <a:t>⊕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9509760" y="1335024"/>
            <a:ext cx="694944" cy="1188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580" b="0" i="0">
                <a:solidFill>
                  <a:srgbClr val="666666"/>
                </a:solidFill>
                <a:latin typeface="Arial"/>
              </a:rPr>
              <a:t>input tokens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9701784" y="1499616"/>
            <a:ext cx="77724" cy="182880"/>
          </a:xfrm>
          <a:prstGeom prst="rect">
            <a:avLst/>
          </a:prstGeom>
          <a:solidFill>
            <a:srgbClr val="DEDEDE"/>
          </a:solidFill>
          <a:ln w="508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1" name="Rectangle 130"/>
          <p:cNvSpPr/>
          <p:nvPr/>
        </p:nvSpPr>
        <p:spPr>
          <a:xfrm>
            <a:off x="9784080" y="1499616"/>
            <a:ext cx="77724" cy="182880"/>
          </a:xfrm>
          <a:prstGeom prst="rect">
            <a:avLst/>
          </a:prstGeom>
          <a:solidFill>
            <a:srgbClr val="DEDEDE"/>
          </a:solidFill>
          <a:ln w="508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2" name="Rectangle 131"/>
          <p:cNvSpPr/>
          <p:nvPr/>
        </p:nvSpPr>
        <p:spPr>
          <a:xfrm>
            <a:off x="9866376" y="1499616"/>
            <a:ext cx="77724" cy="182880"/>
          </a:xfrm>
          <a:prstGeom prst="rect">
            <a:avLst/>
          </a:prstGeom>
          <a:solidFill>
            <a:srgbClr val="DEDEDE"/>
          </a:solidFill>
          <a:ln w="508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3" name="Rectangle 132"/>
          <p:cNvSpPr/>
          <p:nvPr/>
        </p:nvSpPr>
        <p:spPr>
          <a:xfrm>
            <a:off x="9948672" y="1499616"/>
            <a:ext cx="77724" cy="182880"/>
          </a:xfrm>
          <a:prstGeom prst="rect">
            <a:avLst/>
          </a:prstGeom>
          <a:solidFill>
            <a:srgbClr val="DEDEDE"/>
          </a:solidFill>
          <a:ln w="508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10058400" y="1517904"/>
            <a:ext cx="310896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740" b="0" i="1">
                <a:solidFill>
                  <a:srgbClr val="1A1A1A"/>
                </a:solidFill>
                <a:latin typeface="Arial"/>
              </a:rPr>
              <a:t>x</a:t>
            </a:r>
            <a:r>
              <a:rPr sz="540" b="0" i="1" baseline="-25000">
                <a:solidFill>
                  <a:srgbClr val="1A1A1A"/>
                </a:solidFill>
                <a:latin typeface="Arial"/>
              </a:rPr>
              <a:t>t</a:t>
            </a:r>
          </a:p>
        </p:txBody>
      </p:sp>
      <p:cxnSp>
        <p:nvCxnSpPr>
          <p:cNvPr id="135" name="Connector 134"/>
          <p:cNvCxnSpPr/>
          <p:nvPr/>
        </p:nvCxnSpPr>
        <p:spPr>
          <a:xfrm>
            <a:off x="9857232" y="1719072"/>
            <a:ext cx="0" cy="301752"/>
          </a:xfrm>
          <a:prstGeom prst="line">
            <a:avLst/>
          </a:prstGeom>
          <a:ln w="12700">
            <a:solidFill>
              <a:srgbClr val="1A1A1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9994392" y="2157984"/>
            <a:ext cx="155448" cy="0"/>
          </a:xfrm>
          <a:prstGeom prst="line">
            <a:avLst/>
          </a:prstGeom>
          <a:ln w="12700">
            <a:solidFill>
              <a:srgbClr val="1A1A1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Rectangle 136"/>
          <p:cNvSpPr/>
          <p:nvPr/>
        </p:nvSpPr>
        <p:spPr>
          <a:xfrm>
            <a:off x="10186416" y="2057400"/>
            <a:ext cx="118872" cy="201168"/>
          </a:xfrm>
          <a:prstGeom prst="rect">
            <a:avLst/>
          </a:prstGeom>
          <a:solidFill>
            <a:srgbClr val="CCC3DF"/>
          </a:solidFill>
          <a:ln w="508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8" name="Rectangle 137"/>
          <p:cNvSpPr/>
          <p:nvPr/>
        </p:nvSpPr>
        <p:spPr>
          <a:xfrm>
            <a:off x="10314432" y="2057400"/>
            <a:ext cx="118872" cy="201168"/>
          </a:xfrm>
          <a:prstGeom prst="rect">
            <a:avLst/>
          </a:prstGeom>
          <a:solidFill>
            <a:srgbClr val="9381BC"/>
          </a:solidFill>
          <a:ln w="508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9" name="Rectangle 138"/>
          <p:cNvSpPr/>
          <p:nvPr/>
        </p:nvSpPr>
        <p:spPr>
          <a:xfrm>
            <a:off x="10442448" y="2057400"/>
            <a:ext cx="118872" cy="201168"/>
          </a:xfrm>
          <a:prstGeom prst="rect">
            <a:avLst/>
          </a:prstGeom>
          <a:solidFill>
            <a:srgbClr val="E1DCEC"/>
          </a:solidFill>
          <a:ln w="508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0" name="Rectangle 139"/>
          <p:cNvSpPr/>
          <p:nvPr/>
        </p:nvSpPr>
        <p:spPr>
          <a:xfrm>
            <a:off x="10570464" y="2057400"/>
            <a:ext cx="118872" cy="201168"/>
          </a:xfrm>
          <a:prstGeom prst="rect">
            <a:avLst/>
          </a:prstGeom>
          <a:solidFill>
            <a:srgbClr val="AB9DCB"/>
          </a:solidFill>
          <a:ln w="508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1" name="TextBox 140"/>
          <p:cNvSpPr txBox="1"/>
          <p:nvPr/>
        </p:nvSpPr>
        <p:spPr>
          <a:xfrm>
            <a:off x="10113264" y="1755648"/>
            <a:ext cx="768096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95000"/>
              </a:lnSpc>
            </a:pPr>
            <a:r>
              <a:rPr sz="620" b="1" i="0">
                <a:solidFill>
                  <a:srgbClr val="1A1A1A"/>
                </a:solidFill>
                <a:latin typeface="Arial"/>
              </a:rPr>
              <a:t>Position-aware
tokens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0113264" y="2313432"/>
            <a:ext cx="768096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760" b="0" i="1">
                <a:solidFill>
                  <a:srgbClr val="1A1A1A"/>
                </a:solidFill>
                <a:latin typeface="Arial"/>
              </a:rPr>
              <a:t>z</a:t>
            </a:r>
            <a:r>
              <a:rPr sz="540" b="0" i="1" baseline="-25000">
                <a:solidFill>
                  <a:srgbClr val="1A1A1A"/>
                </a:solidFill>
                <a:latin typeface="Arial"/>
              </a:rPr>
              <a:t>t,k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310896" y="4279392"/>
            <a:ext cx="2432304" cy="2194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143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4" name="TextBox 143"/>
          <p:cNvSpPr txBox="1"/>
          <p:nvPr/>
        </p:nvSpPr>
        <p:spPr>
          <a:xfrm>
            <a:off x="310896" y="4279392"/>
            <a:ext cx="2432304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850" b="1" i="0">
                <a:solidFill>
                  <a:srgbClr val="1A1A1A"/>
                </a:solidFill>
                <a:latin typeface="Arial"/>
              </a:rPr>
              <a:t>(c) Why neither track alone suffices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329184" y="4800600"/>
            <a:ext cx="384048" cy="1280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640" b="1" i="0">
                <a:solidFill>
                  <a:srgbClr val="666666"/>
                </a:solidFill>
                <a:latin typeface="Arial"/>
              </a:rPr>
              <a:t>Seq. 1</a:t>
            </a:r>
          </a:p>
        </p:txBody>
      </p:sp>
      <p:cxnSp>
        <p:nvCxnSpPr>
          <p:cNvPr id="146" name="Connector 145"/>
          <p:cNvCxnSpPr/>
          <p:nvPr/>
        </p:nvCxnSpPr>
        <p:spPr>
          <a:xfrm>
            <a:off x="768096" y="4864608"/>
            <a:ext cx="1901952" cy="0"/>
          </a:xfrm>
          <a:prstGeom prst="line">
            <a:avLst/>
          </a:prstGeom>
          <a:ln w="7620">
            <a:solidFill>
              <a:srgbClr val="1A1A1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" name="Oval 146"/>
          <p:cNvSpPr/>
          <p:nvPr/>
        </p:nvSpPr>
        <p:spPr>
          <a:xfrm>
            <a:off x="755294" y="4833518"/>
            <a:ext cx="62179" cy="62179"/>
          </a:xfrm>
          <a:prstGeom prst="ellipse">
            <a:avLst/>
          </a:prstGeom>
          <a:solidFill>
            <a:srgbClr val="1A1A1A"/>
          </a:solidFill>
          <a:ln w="508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8" name="Oval 147"/>
          <p:cNvSpPr/>
          <p:nvPr/>
        </p:nvSpPr>
        <p:spPr>
          <a:xfrm>
            <a:off x="900074" y="4833518"/>
            <a:ext cx="62179" cy="62179"/>
          </a:xfrm>
          <a:prstGeom prst="ellipse">
            <a:avLst/>
          </a:prstGeom>
          <a:solidFill>
            <a:srgbClr val="1A1A1A"/>
          </a:solidFill>
          <a:ln w="508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9" name="Oval 148"/>
          <p:cNvSpPr/>
          <p:nvPr/>
        </p:nvSpPr>
        <p:spPr>
          <a:xfrm>
            <a:off x="1262024" y="4833518"/>
            <a:ext cx="62179" cy="62179"/>
          </a:xfrm>
          <a:prstGeom prst="ellipse">
            <a:avLst/>
          </a:prstGeom>
          <a:solidFill>
            <a:srgbClr val="1A1A1A"/>
          </a:solidFill>
          <a:ln w="508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0" name="Oval 149"/>
          <p:cNvSpPr/>
          <p:nvPr/>
        </p:nvSpPr>
        <p:spPr>
          <a:xfrm>
            <a:off x="1334414" y="4833518"/>
            <a:ext cx="62179" cy="62179"/>
          </a:xfrm>
          <a:prstGeom prst="ellipse">
            <a:avLst/>
          </a:prstGeom>
          <a:solidFill>
            <a:srgbClr val="1A1A1A"/>
          </a:solidFill>
          <a:ln w="508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1" name="Oval 150"/>
          <p:cNvSpPr/>
          <p:nvPr/>
        </p:nvSpPr>
        <p:spPr>
          <a:xfrm>
            <a:off x="2492654" y="4833518"/>
            <a:ext cx="62179" cy="62179"/>
          </a:xfrm>
          <a:prstGeom prst="ellipse">
            <a:avLst/>
          </a:prstGeom>
          <a:solidFill>
            <a:srgbClr val="1A1A1A"/>
          </a:solidFill>
          <a:ln w="508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2706624" y="4809744"/>
            <a:ext cx="182880" cy="1097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640" b="0" i="1">
                <a:solidFill>
                  <a:srgbClr val="666666"/>
                </a:solidFill>
                <a:latin typeface="Arial"/>
              </a:rPr>
              <a:t>τ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329184" y="5367528"/>
            <a:ext cx="384048" cy="1280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640" b="1" i="0">
                <a:solidFill>
                  <a:srgbClr val="666666"/>
                </a:solidFill>
                <a:latin typeface="Arial"/>
              </a:rPr>
              <a:t>Seq. 2</a:t>
            </a:r>
          </a:p>
        </p:txBody>
      </p:sp>
      <p:cxnSp>
        <p:nvCxnSpPr>
          <p:cNvPr id="154" name="Connector 153"/>
          <p:cNvCxnSpPr/>
          <p:nvPr/>
        </p:nvCxnSpPr>
        <p:spPr>
          <a:xfrm>
            <a:off x="768096" y="5431536"/>
            <a:ext cx="1901952" cy="0"/>
          </a:xfrm>
          <a:prstGeom prst="line">
            <a:avLst/>
          </a:prstGeom>
          <a:ln w="7620">
            <a:solidFill>
              <a:srgbClr val="1A1A1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5" name="Oval 154"/>
          <p:cNvSpPr/>
          <p:nvPr/>
        </p:nvSpPr>
        <p:spPr>
          <a:xfrm>
            <a:off x="755294" y="5400446"/>
            <a:ext cx="62179" cy="62179"/>
          </a:xfrm>
          <a:prstGeom prst="ellipse">
            <a:avLst/>
          </a:prstGeom>
          <a:solidFill>
            <a:srgbClr val="1A1A1A"/>
          </a:solidFill>
          <a:ln w="508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6" name="Oval 155"/>
          <p:cNvSpPr/>
          <p:nvPr/>
        </p:nvSpPr>
        <p:spPr>
          <a:xfrm>
            <a:off x="827684" y="5400446"/>
            <a:ext cx="62179" cy="62179"/>
          </a:xfrm>
          <a:prstGeom prst="ellipse">
            <a:avLst/>
          </a:prstGeom>
          <a:solidFill>
            <a:srgbClr val="1A1A1A"/>
          </a:solidFill>
          <a:ln w="508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7" name="Oval 156"/>
          <p:cNvSpPr/>
          <p:nvPr/>
        </p:nvSpPr>
        <p:spPr>
          <a:xfrm>
            <a:off x="972464" y="5400446"/>
            <a:ext cx="62179" cy="62179"/>
          </a:xfrm>
          <a:prstGeom prst="ellipse">
            <a:avLst/>
          </a:prstGeom>
          <a:solidFill>
            <a:srgbClr val="1A1A1A"/>
          </a:solidFill>
          <a:ln w="508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8" name="Oval 157"/>
          <p:cNvSpPr/>
          <p:nvPr/>
        </p:nvSpPr>
        <p:spPr>
          <a:xfrm>
            <a:off x="1044854" y="5400446"/>
            <a:ext cx="62179" cy="62179"/>
          </a:xfrm>
          <a:prstGeom prst="ellipse">
            <a:avLst/>
          </a:prstGeom>
          <a:solidFill>
            <a:srgbClr val="1A1A1A"/>
          </a:solidFill>
          <a:ln w="508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9" name="Oval 158"/>
          <p:cNvSpPr/>
          <p:nvPr/>
        </p:nvSpPr>
        <p:spPr>
          <a:xfrm>
            <a:off x="1189634" y="5400446"/>
            <a:ext cx="62179" cy="62179"/>
          </a:xfrm>
          <a:prstGeom prst="ellipse">
            <a:avLst/>
          </a:prstGeom>
          <a:solidFill>
            <a:srgbClr val="1A1A1A"/>
          </a:solidFill>
          <a:ln w="508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0" name="TextBox 159"/>
          <p:cNvSpPr txBox="1"/>
          <p:nvPr/>
        </p:nvSpPr>
        <p:spPr>
          <a:xfrm>
            <a:off x="2706624" y="5376672"/>
            <a:ext cx="182880" cy="1097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640" b="0" i="1">
                <a:solidFill>
                  <a:srgbClr val="666666"/>
                </a:solidFill>
                <a:latin typeface="Arial"/>
              </a:rPr>
              <a:t>τ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768096" y="5577840"/>
            <a:ext cx="2103120" cy="1097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580" b="0" i="1">
                <a:solidFill>
                  <a:srgbClr val="666666"/>
                </a:solidFill>
                <a:latin typeface="Arial"/>
              </a:rPr>
              <a:t>same indices k = 0…4, different elapsed time</a:t>
            </a:r>
          </a:p>
        </p:txBody>
      </p:sp>
      <p:cxnSp>
        <p:nvCxnSpPr>
          <p:cNvPr id="162" name="Connector 161"/>
          <p:cNvCxnSpPr/>
          <p:nvPr/>
        </p:nvCxnSpPr>
        <p:spPr>
          <a:xfrm>
            <a:off x="2926080" y="5138928"/>
            <a:ext cx="256032" cy="0"/>
          </a:xfrm>
          <a:prstGeom prst="line">
            <a:avLst/>
          </a:prstGeom>
          <a:ln w="11430">
            <a:solidFill>
              <a:srgbClr val="1A1A1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3" name="Rectangle 162"/>
          <p:cNvSpPr/>
          <p:nvPr/>
        </p:nvSpPr>
        <p:spPr>
          <a:xfrm>
            <a:off x="3291840" y="4681728"/>
            <a:ext cx="164592" cy="80467"/>
          </a:xfrm>
          <a:prstGeom prst="rect">
            <a:avLst/>
          </a:prstGeom>
          <a:solidFill>
            <a:srgbClr val="9CB1D3"/>
          </a:solidFill>
          <a:ln w="508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4" name="Rectangle 163"/>
          <p:cNvSpPr/>
          <p:nvPr/>
        </p:nvSpPr>
        <p:spPr>
          <a:xfrm>
            <a:off x="3291840" y="4762195"/>
            <a:ext cx="164592" cy="80467"/>
          </a:xfrm>
          <a:prstGeom prst="rect">
            <a:avLst/>
          </a:prstGeom>
          <a:solidFill>
            <a:srgbClr val="DBE2EF"/>
          </a:solidFill>
          <a:ln w="508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5" name="Rectangle 164"/>
          <p:cNvSpPr/>
          <p:nvPr/>
        </p:nvSpPr>
        <p:spPr>
          <a:xfrm>
            <a:off x="3291840" y="4842662"/>
            <a:ext cx="164592" cy="80467"/>
          </a:xfrm>
          <a:prstGeom prst="rect">
            <a:avLst/>
          </a:prstGeom>
          <a:solidFill>
            <a:srgbClr val="7391C1"/>
          </a:solidFill>
          <a:ln w="508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6" name="Rectangle 165"/>
          <p:cNvSpPr/>
          <p:nvPr/>
        </p:nvSpPr>
        <p:spPr>
          <a:xfrm>
            <a:off x="3291840" y="4923129"/>
            <a:ext cx="164592" cy="80467"/>
          </a:xfrm>
          <a:prstGeom prst="rect">
            <a:avLst/>
          </a:prstGeom>
          <a:solidFill>
            <a:srgbClr val="BECCE2"/>
          </a:solidFill>
          <a:ln w="508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7" name="Rectangle 166"/>
          <p:cNvSpPr/>
          <p:nvPr/>
        </p:nvSpPr>
        <p:spPr>
          <a:xfrm>
            <a:off x="3291840" y="5003596"/>
            <a:ext cx="164592" cy="80467"/>
          </a:xfrm>
          <a:prstGeom prst="rect">
            <a:avLst/>
          </a:prstGeom>
          <a:solidFill>
            <a:srgbClr val="E5EBF3"/>
          </a:solidFill>
          <a:ln w="508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8" name="Rectangle 167"/>
          <p:cNvSpPr/>
          <p:nvPr/>
        </p:nvSpPr>
        <p:spPr>
          <a:xfrm>
            <a:off x="3291840" y="5084064"/>
            <a:ext cx="164592" cy="80467"/>
          </a:xfrm>
          <a:prstGeom prst="rect">
            <a:avLst/>
          </a:prstGeom>
          <a:solidFill>
            <a:srgbClr val="88A1CA"/>
          </a:solidFill>
          <a:ln w="508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9" name="Rectangle 168"/>
          <p:cNvSpPr/>
          <p:nvPr/>
        </p:nvSpPr>
        <p:spPr>
          <a:xfrm>
            <a:off x="3291840" y="5164531"/>
            <a:ext cx="164592" cy="80467"/>
          </a:xfrm>
          <a:prstGeom prst="rect">
            <a:avLst/>
          </a:prstGeom>
          <a:solidFill>
            <a:srgbClr val="C9D4E7"/>
          </a:solidFill>
          <a:ln w="508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0" name="Rectangle 169"/>
          <p:cNvSpPr/>
          <p:nvPr/>
        </p:nvSpPr>
        <p:spPr>
          <a:xfrm>
            <a:off x="3291840" y="5244998"/>
            <a:ext cx="164592" cy="80467"/>
          </a:xfrm>
          <a:prstGeom prst="rect">
            <a:avLst/>
          </a:prstGeom>
          <a:solidFill>
            <a:srgbClr val="6182B9"/>
          </a:solidFill>
          <a:ln w="508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1" name="TextBox 170"/>
          <p:cNvSpPr txBox="1"/>
          <p:nvPr/>
        </p:nvSpPr>
        <p:spPr>
          <a:xfrm>
            <a:off x="3291840" y="4553712"/>
            <a:ext cx="164592" cy="1005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560" b="1" i="0">
                <a:solidFill>
                  <a:srgbClr val="666666"/>
                </a:solidFill>
                <a:latin typeface="Arial"/>
              </a:rPr>
              <a:t>1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3877056" y="4681728"/>
            <a:ext cx="164592" cy="80467"/>
          </a:xfrm>
          <a:prstGeom prst="rect">
            <a:avLst/>
          </a:prstGeom>
          <a:solidFill>
            <a:srgbClr val="9CB1D3"/>
          </a:solidFill>
          <a:ln w="508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3" name="Rectangle 172"/>
          <p:cNvSpPr/>
          <p:nvPr/>
        </p:nvSpPr>
        <p:spPr>
          <a:xfrm>
            <a:off x="3877056" y="4762195"/>
            <a:ext cx="164592" cy="80467"/>
          </a:xfrm>
          <a:prstGeom prst="rect">
            <a:avLst/>
          </a:prstGeom>
          <a:solidFill>
            <a:srgbClr val="DBE2EF"/>
          </a:solidFill>
          <a:ln w="508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" name="Rectangle 173"/>
          <p:cNvSpPr/>
          <p:nvPr/>
        </p:nvSpPr>
        <p:spPr>
          <a:xfrm>
            <a:off x="3877056" y="4842662"/>
            <a:ext cx="164592" cy="80467"/>
          </a:xfrm>
          <a:prstGeom prst="rect">
            <a:avLst/>
          </a:prstGeom>
          <a:solidFill>
            <a:srgbClr val="7391C1"/>
          </a:solidFill>
          <a:ln w="508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5" name="Rectangle 174"/>
          <p:cNvSpPr/>
          <p:nvPr/>
        </p:nvSpPr>
        <p:spPr>
          <a:xfrm>
            <a:off x="3877056" y="4923129"/>
            <a:ext cx="164592" cy="80467"/>
          </a:xfrm>
          <a:prstGeom prst="rect">
            <a:avLst/>
          </a:prstGeom>
          <a:solidFill>
            <a:srgbClr val="BECCE2"/>
          </a:solidFill>
          <a:ln w="508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6" name="Rectangle 175"/>
          <p:cNvSpPr/>
          <p:nvPr/>
        </p:nvSpPr>
        <p:spPr>
          <a:xfrm>
            <a:off x="3877056" y="5003596"/>
            <a:ext cx="164592" cy="80467"/>
          </a:xfrm>
          <a:prstGeom prst="rect">
            <a:avLst/>
          </a:prstGeom>
          <a:solidFill>
            <a:srgbClr val="E5EBF3"/>
          </a:solidFill>
          <a:ln w="508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7" name="Rectangle 176"/>
          <p:cNvSpPr/>
          <p:nvPr/>
        </p:nvSpPr>
        <p:spPr>
          <a:xfrm>
            <a:off x="3877056" y="5084064"/>
            <a:ext cx="164592" cy="80467"/>
          </a:xfrm>
          <a:prstGeom prst="rect">
            <a:avLst/>
          </a:prstGeom>
          <a:solidFill>
            <a:srgbClr val="88A1CA"/>
          </a:solidFill>
          <a:ln w="508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8" name="Rectangle 177"/>
          <p:cNvSpPr/>
          <p:nvPr/>
        </p:nvSpPr>
        <p:spPr>
          <a:xfrm>
            <a:off x="3877056" y="5164531"/>
            <a:ext cx="164592" cy="80467"/>
          </a:xfrm>
          <a:prstGeom prst="rect">
            <a:avLst/>
          </a:prstGeom>
          <a:solidFill>
            <a:srgbClr val="C9D4E7"/>
          </a:solidFill>
          <a:ln w="508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9" name="Rectangle 178"/>
          <p:cNvSpPr/>
          <p:nvPr/>
        </p:nvSpPr>
        <p:spPr>
          <a:xfrm>
            <a:off x="3877056" y="5244998"/>
            <a:ext cx="164592" cy="80467"/>
          </a:xfrm>
          <a:prstGeom prst="rect">
            <a:avLst/>
          </a:prstGeom>
          <a:solidFill>
            <a:srgbClr val="6182B9"/>
          </a:solidFill>
          <a:ln w="508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0" name="TextBox 179"/>
          <p:cNvSpPr txBox="1"/>
          <p:nvPr/>
        </p:nvSpPr>
        <p:spPr>
          <a:xfrm>
            <a:off x="3877056" y="4553712"/>
            <a:ext cx="164592" cy="1005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560" b="1" i="0">
                <a:solidFill>
                  <a:srgbClr val="666666"/>
                </a:solidFill>
                <a:latin typeface="Arial"/>
              </a:rPr>
              <a:t>2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3529584" y="4928616"/>
            <a:ext cx="292608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100" b="1" i="0">
                <a:solidFill>
                  <a:srgbClr val="4C72B0"/>
                </a:solidFill>
                <a:latin typeface="Arial"/>
              </a:rPr>
              <a:t>=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3127248" y="5376672"/>
            <a:ext cx="1078992" cy="1188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680" b="1" i="1">
                <a:solidFill>
                  <a:srgbClr val="4C72B0"/>
                </a:solidFill>
                <a:latin typeface="Arial"/>
              </a:rPr>
              <a:t>p</a:t>
            </a:r>
            <a:r>
              <a:rPr sz="500" b="0" i="0" baseline="-25000">
                <a:solidFill>
                  <a:srgbClr val="4C72B0"/>
                </a:solidFill>
                <a:latin typeface="Arial"/>
              </a:rPr>
              <a:t>idx</a:t>
            </a:r>
            <a:r>
              <a:rPr sz="680" b="1" i="0">
                <a:solidFill>
                  <a:srgbClr val="4C72B0"/>
                </a:solidFill>
                <a:latin typeface="Arial"/>
              </a:rPr>
              <a:t>  identical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3127248" y="5504688"/>
            <a:ext cx="1078992" cy="1097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580" b="0" i="1">
                <a:solidFill>
                  <a:srgbClr val="666666"/>
                </a:solidFill>
                <a:latin typeface="Arial"/>
              </a:rPr>
              <a:t>the gap is erased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4590288" y="4681728"/>
            <a:ext cx="164592" cy="80467"/>
          </a:xfrm>
          <a:prstGeom prst="rect">
            <a:avLst/>
          </a:prstGeom>
          <a:solidFill>
            <a:srgbClr val="FCF2EB"/>
          </a:solidFill>
          <a:ln w="508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5" name="Rectangle 184"/>
          <p:cNvSpPr/>
          <p:nvPr/>
        </p:nvSpPr>
        <p:spPr>
          <a:xfrm>
            <a:off x="4590288" y="4762195"/>
            <a:ext cx="164592" cy="80467"/>
          </a:xfrm>
          <a:prstGeom prst="rect">
            <a:avLst/>
          </a:prstGeom>
          <a:solidFill>
            <a:srgbClr val="F0B284"/>
          </a:solidFill>
          <a:ln w="508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6" name="Rectangle 185"/>
          <p:cNvSpPr/>
          <p:nvPr/>
        </p:nvSpPr>
        <p:spPr>
          <a:xfrm>
            <a:off x="4590288" y="4842662"/>
            <a:ext cx="164592" cy="80467"/>
          </a:xfrm>
          <a:prstGeom prst="rect">
            <a:avLst/>
          </a:prstGeom>
          <a:solidFill>
            <a:srgbClr val="F8DCC7"/>
          </a:solidFill>
          <a:ln w="508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7" name="Rectangle 186"/>
          <p:cNvSpPr/>
          <p:nvPr/>
        </p:nvSpPr>
        <p:spPr>
          <a:xfrm>
            <a:off x="4590288" y="4923129"/>
            <a:ext cx="164592" cy="80467"/>
          </a:xfrm>
          <a:prstGeom prst="rect">
            <a:avLst/>
          </a:prstGeom>
          <a:solidFill>
            <a:srgbClr val="EB9557"/>
          </a:solidFill>
          <a:ln w="508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8" name="Rectangle 187"/>
          <p:cNvSpPr/>
          <p:nvPr/>
        </p:nvSpPr>
        <p:spPr>
          <a:xfrm>
            <a:off x="4590288" y="5003596"/>
            <a:ext cx="164592" cy="80467"/>
          </a:xfrm>
          <a:prstGeom prst="rect">
            <a:avLst/>
          </a:prstGeom>
          <a:solidFill>
            <a:srgbClr val="F4C7A6"/>
          </a:solidFill>
          <a:ln w="508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9" name="Rectangle 188"/>
          <p:cNvSpPr/>
          <p:nvPr/>
        </p:nvSpPr>
        <p:spPr>
          <a:xfrm>
            <a:off x="4590288" y="5084064"/>
            <a:ext cx="164592" cy="80467"/>
          </a:xfrm>
          <a:prstGeom prst="rect">
            <a:avLst/>
          </a:prstGeom>
          <a:solidFill>
            <a:srgbClr val="FAE8DB"/>
          </a:solidFill>
          <a:ln w="508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0" name="Rectangle 189"/>
          <p:cNvSpPr/>
          <p:nvPr/>
        </p:nvSpPr>
        <p:spPr>
          <a:xfrm>
            <a:off x="4590288" y="5164531"/>
            <a:ext cx="164592" cy="80467"/>
          </a:xfrm>
          <a:prstGeom prst="rect">
            <a:avLst/>
          </a:prstGeom>
          <a:solidFill>
            <a:srgbClr val="EEA571"/>
          </a:solidFill>
          <a:ln w="508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1" name="Rectangle 190"/>
          <p:cNvSpPr/>
          <p:nvPr/>
        </p:nvSpPr>
        <p:spPr>
          <a:xfrm>
            <a:off x="4590288" y="5244998"/>
            <a:ext cx="164592" cy="80467"/>
          </a:xfrm>
          <a:prstGeom prst="rect">
            <a:avLst/>
          </a:prstGeom>
          <a:solidFill>
            <a:srgbClr val="F7D4BC"/>
          </a:solidFill>
          <a:ln w="508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2" name="TextBox 191"/>
          <p:cNvSpPr txBox="1"/>
          <p:nvPr/>
        </p:nvSpPr>
        <p:spPr>
          <a:xfrm>
            <a:off x="4590288" y="4553712"/>
            <a:ext cx="164592" cy="1005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560" b="1" i="0">
                <a:solidFill>
                  <a:srgbClr val="666666"/>
                </a:solidFill>
                <a:latin typeface="Arial"/>
              </a:rPr>
              <a:t>1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5175504" y="4681728"/>
            <a:ext cx="164592" cy="80467"/>
          </a:xfrm>
          <a:prstGeom prst="rect">
            <a:avLst/>
          </a:prstGeom>
          <a:solidFill>
            <a:srgbClr val="EEA571"/>
          </a:solidFill>
          <a:ln w="508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4" name="Rectangle 193"/>
          <p:cNvSpPr/>
          <p:nvPr/>
        </p:nvSpPr>
        <p:spPr>
          <a:xfrm>
            <a:off x="5175504" y="4762195"/>
            <a:ext cx="164592" cy="80467"/>
          </a:xfrm>
          <a:prstGeom prst="rect">
            <a:avLst/>
          </a:prstGeom>
          <a:solidFill>
            <a:srgbClr val="FAE8DB"/>
          </a:solidFill>
          <a:ln w="508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5" name="Rectangle 194"/>
          <p:cNvSpPr/>
          <p:nvPr/>
        </p:nvSpPr>
        <p:spPr>
          <a:xfrm>
            <a:off x="5175504" y="4842662"/>
            <a:ext cx="164592" cy="80467"/>
          </a:xfrm>
          <a:prstGeom prst="rect">
            <a:avLst/>
          </a:prstGeom>
          <a:solidFill>
            <a:srgbClr val="EA8F4D"/>
          </a:solidFill>
          <a:ln w="508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6" name="Rectangle 195"/>
          <p:cNvSpPr/>
          <p:nvPr/>
        </p:nvSpPr>
        <p:spPr>
          <a:xfrm>
            <a:off x="5175504" y="4923129"/>
            <a:ext cx="164592" cy="80467"/>
          </a:xfrm>
          <a:prstGeom prst="rect">
            <a:avLst/>
          </a:prstGeom>
          <a:solidFill>
            <a:srgbClr val="F8D9C3"/>
          </a:solidFill>
          <a:ln w="508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7" name="Rectangle 196"/>
          <p:cNvSpPr/>
          <p:nvPr/>
        </p:nvSpPr>
        <p:spPr>
          <a:xfrm>
            <a:off x="5175504" y="5003596"/>
            <a:ext cx="164592" cy="80467"/>
          </a:xfrm>
          <a:prstGeom prst="rect">
            <a:avLst/>
          </a:prstGeom>
          <a:solidFill>
            <a:srgbClr val="FCF0E7"/>
          </a:solidFill>
          <a:ln w="508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8" name="Rectangle 197"/>
          <p:cNvSpPr/>
          <p:nvPr/>
        </p:nvSpPr>
        <p:spPr>
          <a:xfrm>
            <a:off x="5175504" y="5084064"/>
            <a:ext cx="164592" cy="80467"/>
          </a:xfrm>
          <a:prstGeom prst="rect">
            <a:avLst/>
          </a:prstGeom>
          <a:solidFill>
            <a:srgbClr val="F1B488"/>
          </a:solidFill>
          <a:ln w="508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9" name="Rectangle 198"/>
          <p:cNvSpPr/>
          <p:nvPr/>
        </p:nvSpPr>
        <p:spPr>
          <a:xfrm>
            <a:off x="5175504" y="5164531"/>
            <a:ext cx="164592" cy="80467"/>
          </a:xfrm>
          <a:prstGeom prst="rect">
            <a:avLst/>
          </a:prstGeom>
          <a:solidFill>
            <a:srgbClr val="F9DECB"/>
          </a:solidFill>
          <a:ln w="508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0" name="Rectangle 199"/>
          <p:cNvSpPr/>
          <p:nvPr/>
        </p:nvSpPr>
        <p:spPr>
          <a:xfrm>
            <a:off x="5175504" y="5244998"/>
            <a:ext cx="164592" cy="80467"/>
          </a:xfrm>
          <a:prstGeom prst="rect">
            <a:avLst/>
          </a:prstGeom>
          <a:solidFill>
            <a:srgbClr val="EC9B61"/>
          </a:solidFill>
          <a:ln w="508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1" name="TextBox 200"/>
          <p:cNvSpPr txBox="1"/>
          <p:nvPr/>
        </p:nvSpPr>
        <p:spPr>
          <a:xfrm>
            <a:off x="5175504" y="4553712"/>
            <a:ext cx="164592" cy="1005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560" b="1" i="0">
                <a:solidFill>
                  <a:srgbClr val="666666"/>
                </a:solidFill>
                <a:latin typeface="Arial"/>
              </a:rPr>
              <a:t>2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4828032" y="4928616"/>
            <a:ext cx="292608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100" b="1" i="0">
                <a:solidFill>
                  <a:srgbClr val="E8833A"/>
                </a:solidFill>
                <a:latin typeface="Arial"/>
              </a:rPr>
              <a:t>≠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4425696" y="5376672"/>
            <a:ext cx="1078992" cy="1188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680" b="1" i="1">
                <a:solidFill>
                  <a:srgbClr val="E8833A"/>
                </a:solidFill>
                <a:latin typeface="Arial"/>
              </a:rPr>
              <a:t>p</a:t>
            </a:r>
            <a:r>
              <a:rPr sz="500" b="0" i="0" baseline="-25000">
                <a:solidFill>
                  <a:srgbClr val="E8833A"/>
                </a:solidFill>
                <a:latin typeface="Arial"/>
              </a:rPr>
              <a:t>time</a:t>
            </a:r>
            <a:r>
              <a:rPr sz="680" b="1" i="0">
                <a:solidFill>
                  <a:srgbClr val="E8833A"/>
                </a:solidFill>
                <a:latin typeface="Arial"/>
              </a:rPr>
              <a:t>  distinct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4425696" y="5504688"/>
            <a:ext cx="1078992" cy="1097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580" b="0" i="1">
                <a:solidFill>
                  <a:srgbClr val="666666"/>
                </a:solidFill>
                <a:latin typeface="Arial"/>
              </a:rPr>
              <a:t>the gap survives</a:t>
            </a:r>
          </a:p>
        </p:txBody>
      </p:sp>
      <p:cxnSp>
        <p:nvCxnSpPr>
          <p:cNvPr id="205" name="Connector 204"/>
          <p:cNvCxnSpPr/>
          <p:nvPr/>
        </p:nvCxnSpPr>
        <p:spPr>
          <a:xfrm>
            <a:off x="5541264" y="5138928"/>
            <a:ext cx="256032" cy="0"/>
          </a:xfrm>
          <a:prstGeom prst="line">
            <a:avLst/>
          </a:prstGeom>
          <a:ln w="11430">
            <a:solidFill>
              <a:srgbClr val="1A1A1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6" name="Rounded Rectangle 205"/>
          <p:cNvSpPr/>
          <p:nvPr/>
        </p:nvSpPr>
        <p:spPr>
          <a:xfrm>
            <a:off x="5888736" y="4553712"/>
            <a:ext cx="4791456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4B4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7" name="TextBox 206"/>
          <p:cNvSpPr txBox="1"/>
          <p:nvPr/>
        </p:nvSpPr>
        <p:spPr>
          <a:xfrm>
            <a:off x="6053328" y="4663440"/>
            <a:ext cx="4480560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800" b="1" i="0">
                <a:solidFill>
                  <a:srgbClr val="1A1A1A"/>
                </a:solidFill>
                <a:latin typeface="Arial"/>
              </a:rPr>
              <a:t>The index track cannot tell these two patients apart.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6053328" y="4864608"/>
            <a:ext cx="4480560" cy="51206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</a:pPr>
            <a:r>
              <a:rPr sz="720" b="0" i="0">
                <a:solidFill>
                  <a:srgbClr val="666666"/>
                </a:solidFill>
                <a:latin typeface="Arial"/>
              </a:rPr>
              <a:t>A 16-hour silence is not missing data — it is a clinician deciding no test was warranted. DTPE carries that decision into the token representation instead of normalising it away.</a:t>
            </a:r>
          </a:p>
        </p:txBody>
      </p:sp>
      <p:cxnSp>
        <p:nvCxnSpPr>
          <p:cNvPr id="209" name="Connector 208"/>
          <p:cNvCxnSpPr/>
          <p:nvPr/>
        </p:nvCxnSpPr>
        <p:spPr>
          <a:xfrm>
            <a:off x="6071616" y="5541264"/>
            <a:ext cx="219456" cy="0"/>
          </a:xfrm>
          <a:prstGeom prst="line">
            <a:avLst/>
          </a:prstGeom>
          <a:ln w="17780">
            <a:solidFill>
              <a:srgbClr val="E8833A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0" name="TextBox 209"/>
          <p:cNvSpPr txBox="1"/>
          <p:nvPr/>
        </p:nvSpPr>
        <p:spPr>
          <a:xfrm>
            <a:off x="6345936" y="5477256"/>
            <a:ext cx="658368" cy="1280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620" b="0" i="0">
                <a:solidFill>
                  <a:srgbClr val="666666"/>
                </a:solidFill>
                <a:latin typeface="Arial"/>
              </a:rPr>
              <a:t>learnable</a:t>
            </a:r>
          </a:p>
        </p:txBody>
      </p:sp>
      <p:cxnSp>
        <p:nvCxnSpPr>
          <p:cNvPr id="211" name="Connector 210"/>
          <p:cNvCxnSpPr/>
          <p:nvPr/>
        </p:nvCxnSpPr>
        <p:spPr>
          <a:xfrm>
            <a:off x="7114032" y="5541264"/>
            <a:ext cx="219456" cy="0"/>
          </a:xfrm>
          <a:prstGeom prst="line">
            <a:avLst/>
          </a:prstGeom>
          <a:ln w="17780">
            <a:solidFill>
              <a:srgbClr val="4C72B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2" name="TextBox 211"/>
          <p:cNvSpPr txBox="1"/>
          <p:nvPr/>
        </p:nvSpPr>
        <p:spPr>
          <a:xfrm>
            <a:off x="7388352" y="5477256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620" b="0" i="0">
                <a:solidFill>
                  <a:srgbClr val="666666"/>
                </a:solidFill>
                <a:latin typeface="Arial"/>
              </a:rPr>
              <a:t>frozen</a:t>
            </a:r>
          </a:p>
        </p:txBody>
      </p:sp>
      <p:sp>
        <p:nvSpPr>
          <p:cNvPr id="213" name="Oval 212"/>
          <p:cNvSpPr/>
          <p:nvPr/>
        </p:nvSpPr>
        <p:spPr>
          <a:xfrm>
            <a:off x="8014716" y="5472683"/>
            <a:ext cx="137160" cy="13716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4" name="TextBox 213"/>
          <p:cNvSpPr txBox="1"/>
          <p:nvPr/>
        </p:nvSpPr>
        <p:spPr>
          <a:xfrm>
            <a:off x="8014716" y="5468112"/>
            <a:ext cx="137160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650" b="0" i="0">
                <a:solidFill>
                  <a:srgbClr val="1A1A1A"/>
                </a:solidFill>
                <a:latin typeface="Arial"/>
              </a:rPr>
              <a:t>⊕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8211312" y="5477256"/>
            <a:ext cx="1097280" cy="1280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620" b="0" i="0">
                <a:solidFill>
                  <a:srgbClr val="666666"/>
                </a:solidFill>
                <a:latin typeface="Arial"/>
              </a:rPr>
              <a:t>element-wise sum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714</TotalTime>
  <Words>242</Words>
  <Application>Microsoft Office PowerPoint</Application>
  <PresentationFormat>自定义</PresentationFormat>
  <Paragraphs>63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guan shao</cp:lastModifiedBy>
  <cp:revision>2</cp:revision>
  <dcterms:created xsi:type="dcterms:W3CDTF">2013-01-27T09:14:16Z</dcterms:created>
  <dcterms:modified xsi:type="dcterms:W3CDTF">2026-07-16T11:45:53Z</dcterms:modified>
  <cp:category/>
</cp:coreProperties>
</file>